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35"/>
  </p:notesMasterIdLst>
  <p:sldIdLst>
    <p:sldId id="256" r:id="rId2"/>
    <p:sldId id="297" r:id="rId3"/>
    <p:sldId id="411" r:id="rId4"/>
    <p:sldId id="400" r:id="rId5"/>
    <p:sldId id="395" r:id="rId6"/>
    <p:sldId id="413" r:id="rId7"/>
    <p:sldId id="355" r:id="rId8"/>
    <p:sldId id="356" r:id="rId9"/>
    <p:sldId id="409" r:id="rId10"/>
    <p:sldId id="396" r:id="rId11"/>
    <p:sldId id="401" r:id="rId12"/>
    <p:sldId id="399" r:id="rId13"/>
    <p:sldId id="402" r:id="rId14"/>
    <p:sldId id="403" r:id="rId15"/>
    <p:sldId id="404" r:id="rId16"/>
    <p:sldId id="405" r:id="rId17"/>
    <p:sldId id="382" r:id="rId18"/>
    <p:sldId id="406" r:id="rId19"/>
    <p:sldId id="407" r:id="rId20"/>
    <p:sldId id="383" r:id="rId21"/>
    <p:sldId id="410" r:id="rId22"/>
    <p:sldId id="384" r:id="rId23"/>
    <p:sldId id="385" r:id="rId24"/>
    <p:sldId id="386" r:id="rId25"/>
    <p:sldId id="387" r:id="rId26"/>
    <p:sldId id="388" r:id="rId27"/>
    <p:sldId id="389" r:id="rId28"/>
    <p:sldId id="390" r:id="rId29"/>
    <p:sldId id="391" r:id="rId30"/>
    <p:sldId id="392" r:id="rId31"/>
    <p:sldId id="393" r:id="rId32"/>
    <p:sldId id="408" r:id="rId33"/>
    <p:sldId id="394" r:id="rId34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  <a:srgbClr val="FFFF99"/>
    <a:srgbClr val="CCFFCC"/>
    <a:srgbClr val="CCECFF"/>
    <a:srgbClr val="FFCCCC"/>
    <a:srgbClr val="FF8AD8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99" autoAdjust="0"/>
    <p:restoredTop sz="95865" autoAdjust="0"/>
  </p:normalViewPr>
  <p:slideViewPr>
    <p:cSldViewPr>
      <p:cViewPr varScale="1">
        <p:scale>
          <a:sx n="103" d="100"/>
          <a:sy n="103" d="100"/>
        </p:scale>
        <p:origin x="1068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D1B20-A248-FB47-8240-73C0C5F47C9D}" type="datetimeFigureOut">
              <a:t>2026/10/19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A746F-AF1F-C048-A2ED-B38EF01E9631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597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977278B-6103-7448-8885-11FCA29D84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90133"/>
            <a:ext cx="9144000" cy="7540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>
                <a:ln>
                  <a:solidFill>
                    <a:srgbClr val="011893"/>
                  </a:solidFill>
                </a:ln>
              </a:defRPr>
            </a:lvl1pPr>
          </a:lstStyle>
          <a:p>
            <a:endParaRPr kumimoji="1" lang="ja-JP" altLang="en-US"/>
          </a:p>
        </p:txBody>
      </p:sp>
      <p:sp>
        <p:nvSpPr>
          <p:cNvPr id="6" name="円/楕円 3">
            <a:extLst>
              <a:ext uri="{FF2B5EF4-FFF2-40B4-BE49-F238E27FC236}">
                <a16:creationId xmlns:a16="http://schemas.microsoft.com/office/drawing/2014/main" id="{487F8E9E-2412-46EC-98D7-79D3FF31255F}"/>
              </a:ext>
            </a:extLst>
          </p:cNvPr>
          <p:cNvSpPr/>
          <p:nvPr userDrawn="1"/>
        </p:nvSpPr>
        <p:spPr>
          <a:xfrm>
            <a:off x="8532440" y="6237312"/>
            <a:ext cx="531173" cy="53117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>
              <a:latin typeface="+mj-ea"/>
              <a:ea typeface="+mj-ea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7889554-4F08-4BCC-A76B-18FB5F2766B3}"/>
              </a:ext>
            </a:extLst>
          </p:cNvPr>
          <p:cNvSpPr txBox="1"/>
          <p:nvPr userDrawn="1"/>
        </p:nvSpPr>
        <p:spPr>
          <a:xfrm>
            <a:off x="8491428" y="6270575"/>
            <a:ext cx="401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E8E17320-8F29-C346-80F3-7693511BE498}" type="slidenum">
              <a:rPr kumimoji="1" lang="ja-JP" altLang="en-US" sz="1400"/>
              <a:pPr algn="ctr"/>
              <a:t>‹#›</a:t>
            </a:fld>
            <a:endParaRPr kumimoji="1" lang="ja-JP" altLang="en-US" sz="1400" dirty="0"/>
          </a:p>
        </p:txBody>
      </p:sp>
      <p:sp>
        <p:nvSpPr>
          <p:cNvPr id="9" name="弦 8">
            <a:extLst>
              <a:ext uri="{FF2B5EF4-FFF2-40B4-BE49-F238E27FC236}">
                <a16:creationId xmlns:a16="http://schemas.microsoft.com/office/drawing/2014/main" id="{F11AA314-EB24-44EB-A852-674DA52458DB}"/>
              </a:ext>
            </a:extLst>
          </p:cNvPr>
          <p:cNvSpPr/>
          <p:nvPr userDrawn="1"/>
        </p:nvSpPr>
        <p:spPr>
          <a:xfrm rot="15300000">
            <a:off x="8520720" y="6221077"/>
            <a:ext cx="565274" cy="565274"/>
          </a:xfrm>
          <a:prstGeom prst="chord">
            <a:avLst>
              <a:gd name="adj1" fmla="val 2700000"/>
              <a:gd name="adj2" fmla="val 14142403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B1D6D61-20B2-4D37-BE12-D11D0A62A47D}"/>
              </a:ext>
            </a:extLst>
          </p:cNvPr>
          <p:cNvSpPr txBox="1"/>
          <p:nvPr userDrawn="1"/>
        </p:nvSpPr>
        <p:spPr>
          <a:xfrm>
            <a:off x="8717317" y="6437838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/>
              <a:t>33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8478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306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C4099E-EB60-DC4F-967D-225ED88E614D}"/>
              </a:ext>
            </a:extLst>
          </p:cNvPr>
          <p:cNvSpPr txBox="1"/>
          <p:nvPr/>
        </p:nvSpPr>
        <p:spPr>
          <a:xfrm>
            <a:off x="107504" y="1268760"/>
            <a:ext cx="8892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011893"/>
                </a:solidFill>
              </a:rPr>
              <a:t>演習：</a:t>
            </a:r>
            <a:r>
              <a:rPr lang="en-US" altLang="ja-JP" sz="4000" dirty="0">
                <a:solidFill>
                  <a:srgbClr val="011893"/>
                </a:solidFill>
              </a:rPr>
              <a:t>Git</a:t>
            </a:r>
            <a:r>
              <a:rPr lang="ja-JP" altLang="en-US" sz="4000" dirty="0">
                <a:solidFill>
                  <a:srgbClr val="011893"/>
                </a:solidFill>
              </a:rPr>
              <a:t>の操作</a:t>
            </a:r>
            <a:r>
              <a:rPr lang="en-US" altLang="ja-JP" sz="4000" dirty="0">
                <a:solidFill>
                  <a:srgbClr val="011893"/>
                </a:solidFill>
              </a:rPr>
              <a:t>(</a:t>
            </a:r>
            <a:r>
              <a:rPr lang="ja-JP" altLang="en-US" sz="4000">
                <a:solidFill>
                  <a:srgbClr val="011893"/>
                </a:solidFill>
              </a:rPr>
              <a:t>基本編</a:t>
            </a:r>
            <a:r>
              <a:rPr lang="en-US" altLang="ja-JP" sz="4000" dirty="0">
                <a:solidFill>
                  <a:srgbClr val="011893"/>
                </a:solidFill>
              </a:rPr>
              <a:t>)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F6FF3F0-B80E-4A32-A410-E1A4C3A7A116}"/>
              </a:ext>
            </a:extLst>
          </p:cNvPr>
          <p:cNvSpPr txBox="1"/>
          <p:nvPr/>
        </p:nvSpPr>
        <p:spPr>
          <a:xfrm>
            <a:off x="3704546" y="5314568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慶應義塾大学理工学部物理情報工学科</a:t>
            </a:r>
            <a:endParaRPr lang="en-US" altLang="ja-JP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4A82E08-1852-476D-B582-C7C001BDD60A}"/>
              </a:ext>
            </a:extLst>
          </p:cNvPr>
          <p:cNvSpPr txBox="1"/>
          <p:nvPr/>
        </p:nvSpPr>
        <p:spPr>
          <a:xfrm>
            <a:off x="8249826" y="573325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渡辺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8784A41-7BD6-4EEF-8757-F034BFDF9755}"/>
              </a:ext>
            </a:extLst>
          </p:cNvPr>
          <p:cNvSpPr txBox="1"/>
          <p:nvPr/>
        </p:nvSpPr>
        <p:spPr>
          <a:xfrm>
            <a:off x="107504" y="116632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物理情報工学ソフトウェア開発演習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7953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A3EAC2E-574A-4BF8-8DAE-C46E6B0847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今回の目標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6BE09DD-BFB2-4A03-AAF8-832DB3A68F0A}"/>
              </a:ext>
            </a:extLst>
          </p:cNvPr>
          <p:cNvSpPr txBox="1"/>
          <p:nvPr/>
        </p:nvSpPr>
        <p:spPr>
          <a:xfrm>
            <a:off x="395536" y="2132856"/>
            <a:ext cx="73036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ja-JP" sz="2400" dirty="0"/>
              <a:t>Git</a:t>
            </a:r>
            <a:r>
              <a:rPr kumimoji="1" lang="ja-JP" altLang="en-US" sz="2400" dirty="0"/>
              <a:t>の初期設定を行う</a:t>
            </a: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/>
              <a:t>コマンドラインで</a:t>
            </a:r>
            <a:r>
              <a:rPr lang="en-US" altLang="ja-JP" sz="2400" dirty="0"/>
              <a:t>Git</a:t>
            </a:r>
            <a:r>
              <a:rPr lang="ja-JP" altLang="en-US" sz="2400" dirty="0"/>
              <a:t>の操作を一通り確認する</a:t>
            </a:r>
            <a:endParaRPr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ja-JP" sz="2400" dirty="0"/>
              <a:t>VSCode</a:t>
            </a:r>
            <a:r>
              <a:rPr kumimoji="1" lang="ja-JP" altLang="en-US" sz="2400" dirty="0"/>
              <a:t>からも</a:t>
            </a:r>
            <a:r>
              <a:rPr kumimoji="1" lang="en-US" altLang="ja-JP" sz="2400" dirty="0"/>
              <a:t>Git</a:t>
            </a:r>
            <a:r>
              <a:rPr kumimoji="1" lang="ja-JP" altLang="en-US" sz="2400" dirty="0"/>
              <a:t>の操作ができることを確認する</a:t>
            </a:r>
          </a:p>
        </p:txBody>
      </p:sp>
    </p:spTree>
    <p:extLst>
      <p:ext uri="{BB962C8B-B14F-4D97-AF65-F5344CB8AC3E}">
        <p14:creationId xmlns:p14="http://schemas.microsoft.com/office/powerpoint/2010/main" val="3652201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CAE1822-212C-9AC8-EE16-5A5747A5CD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281737"/>
            <a:ext cx="9144000" cy="754062"/>
          </a:xfrm>
        </p:spPr>
        <p:txBody>
          <a:bodyPr/>
          <a:lstStyle/>
          <a:p>
            <a:r>
              <a:rPr kumimoji="1" lang="ja-JP" altLang="en-US"/>
              <a:t>課題の進め方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DA718A5-359B-0B14-5845-4EED8C47B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595409"/>
            <a:ext cx="4606280" cy="16886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E49C368-1A25-B0F1-40DE-FEBA688B37C5}"/>
              </a:ext>
            </a:extLst>
          </p:cNvPr>
          <p:cNvSpPr txBox="1"/>
          <p:nvPr/>
        </p:nvSpPr>
        <p:spPr>
          <a:xfrm>
            <a:off x="179512" y="1052736"/>
            <a:ext cx="4352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K-LMS</a:t>
            </a:r>
            <a:r>
              <a:rPr kumimoji="1" lang="ja-JP" altLang="en-US"/>
              <a:t>の「課題」</a:t>
            </a:r>
            <a:r>
              <a:rPr kumimoji="1" lang="en-US" altLang="ja-JP" dirty="0"/>
              <a:t>PDF</a:t>
            </a:r>
            <a:r>
              <a:rPr kumimoji="1" lang="ja-JP" altLang="en-US"/>
              <a:t>に沿って作業する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98E3FF2-B4C0-87C8-CBB7-EECA5C5C7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359" y="1721070"/>
            <a:ext cx="4942641" cy="3705844"/>
          </a:xfrm>
          <a:prstGeom prst="rect">
            <a:avLst/>
          </a:prstGeom>
        </p:spPr>
      </p:pic>
      <p:sp>
        <p:nvSpPr>
          <p:cNvPr id="9" name="角丸四角形 8">
            <a:extLst>
              <a:ext uri="{FF2B5EF4-FFF2-40B4-BE49-F238E27FC236}">
                <a16:creationId xmlns:a16="http://schemas.microsoft.com/office/drawing/2014/main" id="{50ADA2E8-C921-378A-8F7D-883FF01A1D50}"/>
              </a:ext>
            </a:extLst>
          </p:cNvPr>
          <p:cNvSpPr/>
          <p:nvPr/>
        </p:nvSpPr>
        <p:spPr>
          <a:xfrm>
            <a:off x="395536" y="2060849"/>
            <a:ext cx="1368152" cy="28803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C4777D54-1A0F-E27C-B27F-7E587FE40745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>
            <a:off x="1763688" y="2204865"/>
            <a:ext cx="2437671" cy="1369127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B58E141-F2BA-898C-1EC5-B9415BD857E5}"/>
              </a:ext>
            </a:extLst>
          </p:cNvPr>
          <p:cNvSpPr txBox="1"/>
          <p:nvPr/>
        </p:nvSpPr>
        <p:spPr>
          <a:xfrm>
            <a:off x="179512" y="591070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「解説スライド」は解説のための補助資料なので注意</a:t>
            </a:r>
          </a:p>
        </p:txBody>
      </p:sp>
    </p:spTree>
    <p:extLst>
      <p:ext uri="{BB962C8B-B14F-4D97-AF65-F5344CB8AC3E}">
        <p14:creationId xmlns:p14="http://schemas.microsoft.com/office/powerpoint/2010/main" val="2586192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2CAA9242-5C9F-A693-096A-DBA293665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1690845"/>
            <a:ext cx="4464496" cy="4690483"/>
          </a:xfrm>
          <a:prstGeom prst="rect">
            <a:avLst/>
          </a:prstGeom>
        </p:spPr>
      </p:pic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59CA124-BB54-3FB8-3711-88973BF6F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Git Bash</a:t>
            </a:r>
            <a:r>
              <a:rPr kumimoji="1" lang="ja-JP" altLang="en-US" dirty="0"/>
              <a:t>の開き方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3341F80B-DDF4-485F-A171-2409E772E17E}"/>
              </a:ext>
            </a:extLst>
          </p:cNvPr>
          <p:cNvSpPr/>
          <p:nvPr/>
        </p:nvSpPr>
        <p:spPr>
          <a:xfrm>
            <a:off x="1547664" y="6093296"/>
            <a:ext cx="1440160" cy="28803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05EF3501-A6A6-6C6E-5E26-FF644FABB7DF}"/>
              </a:ext>
            </a:extLst>
          </p:cNvPr>
          <p:cNvSpPr/>
          <p:nvPr/>
        </p:nvSpPr>
        <p:spPr>
          <a:xfrm>
            <a:off x="1763688" y="2253582"/>
            <a:ext cx="1944216" cy="43204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E186DC6-7F52-7060-AEFC-4C58A518862E}"/>
              </a:ext>
            </a:extLst>
          </p:cNvPr>
          <p:cNvSpPr txBox="1"/>
          <p:nvPr/>
        </p:nvSpPr>
        <p:spPr>
          <a:xfrm>
            <a:off x="395536" y="836712"/>
            <a:ext cx="41857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ja-JP" altLang="en-US" dirty="0"/>
              <a:t>検索ボックスに</a:t>
            </a:r>
            <a:r>
              <a:rPr lang="en-US" altLang="ja-JP" dirty="0"/>
              <a:t>git bash</a:t>
            </a:r>
            <a:r>
              <a:rPr lang="ja-JP" altLang="en-US" dirty="0"/>
              <a:t>と入力</a:t>
            </a:r>
            <a:endParaRPr lang="en-US" altLang="ja-JP" dirty="0"/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dirty="0"/>
              <a:t>表示された「</a:t>
            </a:r>
            <a:r>
              <a:rPr kumimoji="1" lang="en-US" altLang="ja-JP" dirty="0"/>
              <a:t>Git Bash</a:t>
            </a:r>
            <a:r>
              <a:rPr kumimoji="1" lang="ja-JP" altLang="en-US" dirty="0"/>
              <a:t>」をクリック</a:t>
            </a:r>
          </a:p>
        </p:txBody>
      </p:sp>
      <p:cxnSp>
        <p:nvCxnSpPr>
          <p:cNvPr id="7" name="コネクタ: カギ線 6">
            <a:extLst>
              <a:ext uri="{FF2B5EF4-FFF2-40B4-BE49-F238E27FC236}">
                <a16:creationId xmlns:a16="http://schemas.microsoft.com/office/drawing/2014/main" id="{2A09A123-CF7C-8C8F-52F3-DBB1321B8372}"/>
              </a:ext>
            </a:extLst>
          </p:cNvPr>
          <p:cNvCxnSpPr>
            <a:cxnSpLocks/>
            <a:stCxn id="5" idx="1"/>
            <a:endCxn id="3" idx="1"/>
          </p:cNvCxnSpPr>
          <p:nvPr/>
        </p:nvCxnSpPr>
        <p:spPr>
          <a:xfrm rot="10800000" flipH="1" flipV="1">
            <a:off x="395536" y="1159878"/>
            <a:ext cx="1152128" cy="5077434"/>
          </a:xfrm>
          <a:prstGeom prst="bentConnector3">
            <a:avLst>
              <a:gd name="adj1" fmla="val -19842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コネクタ: カギ線 9">
            <a:extLst>
              <a:ext uri="{FF2B5EF4-FFF2-40B4-BE49-F238E27FC236}">
                <a16:creationId xmlns:a16="http://schemas.microsoft.com/office/drawing/2014/main" id="{6B265917-9945-D4B9-B34E-0B804E7515C9}"/>
              </a:ext>
            </a:extLst>
          </p:cNvPr>
          <p:cNvCxnSpPr>
            <a:cxnSpLocks/>
            <a:endCxn id="4" idx="1"/>
          </p:cNvCxnSpPr>
          <p:nvPr/>
        </p:nvCxnSpPr>
        <p:spPr>
          <a:xfrm rot="16200000" flipH="1">
            <a:off x="827584" y="1533502"/>
            <a:ext cx="1080120" cy="792088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717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4D83395-DFF7-6972-F903-89A85EF931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Git Bash</a:t>
            </a:r>
            <a:r>
              <a:rPr kumimoji="1" lang="ja-JP" altLang="en-US" dirty="0"/>
              <a:t>とプロンプト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14B46D3-B143-43FD-0325-9285E49608DA}"/>
              </a:ext>
            </a:extLst>
          </p:cNvPr>
          <p:cNvSpPr txBox="1"/>
          <p:nvPr/>
        </p:nvSpPr>
        <p:spPr>
          <a:xfrm>
            <a:off x="179512" y="1196752"/>
            <a:ext cx="6288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Git Bash</a:t>
            </a:r>
            <a:r>
              <a:rPr kumimoji="1" lang="ja-JP" altLang="en-US" sz="2400" dirty="0"/>
              <a:t>を開くと、以下のような画面となる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766393B-FF6C-9707-C180-CA49DB737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844824"/>
            <a:ext cx="7331075" cy="2575783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CC60A87-578C-2256-C8A4-46FEE654AFA5}"/>
              </a:ext>
            </a:extLst>
          </p:cNvPr>
          <p:cNvSpPr txBox="1"/>
          <p:nvPr/>
        </p:nvSpPr>
        <p:spPr>
          <a:xfrm>
            <a:off x="467544" y="4581128"/>
            <a:ext cx="78790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＄マークの右にカーソルが点滅しており、コマンド入力待ちになる</a:t>
            </a:r>
            <a:endParaRPr kumimoji="1" lang="en-US" altLang="ja-JP" sz="2000" dirty="0"/>
          </a:p>
          <a:p>
            <a:r>
              <a:rPr kumimoji="1" lang="ja-JP" altLang="en-US" sz="2000" dirty="0"/>
              <a:t>このマークを</a:t>
            </a:r>
            <a:r>
              <a:rPr kumimoji="1" lang="ja-JP" altLang="en-US" sz="2000" dirty="0">
                <a:solidFill>
                  <a:srgbClr val="FF0000"/>
                </a:solidFill>
              </a:rPr>
              <a:t>コマンドプロンプト</a:t>
            </a:r>
            <a:r>
              <a:rPr kumimoji="1" lang="en-US" altLang="ja-JP" sz="2000" dirty="0"/>
              <a:t>(</a:t>
            </a:r>
            <a:r>
              <a:rPr kumimoji="1" lang="ja-JP" altLang="en-US" sz="2000" dirty="0"/>
              <a:t>もしくは単に</a:t>
            </a:r>
            <a:r>
              <a:rPr kumimoji="1" lang="ja-JP" altLang="en-US" sz="2000" dirty="0">
                <a:solidFill>
                  <a:srgbClr val="FF0000"/>
                </a:solidFill>
              </a:rPr>
              <a:t>プロンプト</a:t>
            </a:r>
            <a:r>
              <a:rPr kumimoji="1" lang="en-US" altLang="ja-JP" sz="2000" dirty="0"/>
              <a:t>)</a:t>
            </a:r>
            <a:r>
              <a:rPr kumimoji="1" lang="ja-JP" altLang="en-US" sz="2000" dirty="0"/>
              <a:t>と呼ぶ</a:t>
            </a:r>
            <a:endParaRPr kumimoji="1"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3150751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C712D3E-8CD3-7AD0-FCBD-E4771C8ACF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課題</a:t>
            </a:r>
            <a:r>
              <a:rPr lang="en-US" altLang="ja-JP" dirty="0"/>
              <a:t> – Step 0</a:t>
            </a:r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B961DBE-6CA8-90CB-5795-71A7BD085019}"/>
              </a:ext>
            </a:extLst>
          </p:cNvPr>
          <p:cNvSpPr txBox="1"/>
          <p:nvPr/>
        </p:nvSpPr>
        <p:spPr>
          <a:xfrm>
            <a:off x="323528" y="1124744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環境変数設定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76108D1-9D7C-F6C6-8218-E1D2209C329B}"/>
              </a:ext>
            </a:extLst>
          </p:cNvPr>
          <p:cNvSpPr txBox="1"/>
          <p:nvPr/>
        </p:nvSpPr>
        <p:spPr>
          <a:xfrm>
            <a:off x="1979712" y="2768650"/>
            <a:ext cx="4538422" cy="1446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4400" dirty="0">
                <a:latin typeface="Consolas" panose="020B0609020204030204" pitchFamily="49" charset="0"/>
              </a:rPr>
              <a:t>e</a:t>
            </a:r>
            <a:r>
              <a:rPr kumimoji="1" lang="en-US" altLang="ja-JP" sz="4400" dirty="0">
                <a:latin typeface="Consolas" panose="020B0609020204030204" pitchFamily="49" charset="0"/>
              </a:rPr>
              <a:t>xport HOME=/z</a:t>
            </a:r>
          </a:p>
          <a:p>
            <a:r>
              <a:rPr lang="en-US" altLang="ja-JP" sz="4400" dirty="0">
                <a:latin typeface="Consolas" panose="020B0609020204030204" pitchFamily="49" charset="0"/>
              </a:rPr>
              <a:t>cd</a:t>
            </a:r>
            <a:endParaRPr kumimoji="1" lang="en-US" altLang="ja-JP" sz="4400" dirty="0">
              <a:latin typeface="Consolas" panose="020B0609020204030204" pitchFamily="49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594EF92-B97B-AA3A-3537-34F195F9315E}"/>
              </a:ext>
            </a:extLst>
          </p:cNvPr>
          <p:cNvSpPr txBox="1"/>
          <p:nvPr/>
        </p:nvSpPr>
        <p:spPr>
          <a:xfrm>
            <a:off x="755018" y="1929509"/>
            <a:ext cx="69878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演習室の</a:t>
            </a:r>
            <a:r>
              <a:rPr kumimoji="1" lang="en-US" altLang="ja-JP" sz="2800" dirty="0"/>
              <a:t>PC</a:t>
            </a:r>
            <a:r>
              <a:rPr kumimoji="1" lang="ja-JP" altLang="en-US" sz="2800" dirty="0"/>
              <a:t>を使う場合は</a:t>
            </a:r>
            <a:r>
              <a:rPr lang="ja-JP" altLang="en-US" sz="2800" dirty="0"/>
              <a:t>下記</a:t>
            </a:r>
            <a:r>
              <a:rPr kumimoji="1" lang="ja-JP" altLang="en-US" sz="2800" dirty="0"/>
              <a:t>の</a:t>
            </a:r>
            <a:r>
              <a:rPr kumimoji="1" lang="en-US" altLang="ja-JP" sz="2800" dirty="0"/>
              <a:t>2</a:t>
            </a:r>
            <a:r>
              <a:rPr kumimoji="1" lang="ja-JP" altLang="en-US" sz="2800" dirty="0"/>
              <a:t>行を実行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913B9CD-3D35-ABBE-6245-9F22E2F67954}"/>
              </a:ext>
            </a:extLst>
          </p:cNvPr>
          <p:cNvSpPr txBox="1"/>
          <p:nvPr/>
        </p:nvSpPr>
        <p:spPr>
          <a:xfrm>
            <a:off x="611560" y="4869160"/>
            <a:ext cx="7146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持ち込み</a:t>
            </a:r>
            <a:r>
              <a:rPr lang="en-US" altLang="ja-JP" sz="2800" dirty="0"/>
              <a:t>PC</a:t>
            </a:r>
            <a:r>
              <a:rPr lang="ja-JP" altLang="en-US" sz="2800" dirty="0"/>
              <a:t>を使う場合は実行しなくてよい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550240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B0B2E08-2322-4621-96D8-09F2805817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 – Step 1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C2471D5-BCE5-475E-80D0-D586469A6592}"/>
              </a:ext>
            </a:extLst>
          </p:cNvPr>
          <p:cNvSpPr txBox="1"/>
          <p:nvPr/>
        </p:nvSpPr>
        <p:spPr>
          <a:xfrm>
            <a:off x="323528" y="112474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初期設定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8B41CAA-0100-4EA9-A1D1-4CFEBFC3849C}"/>
              </a:ext>
            </a:extLst>
          </p:cNvPr>
          <p:cNvSpPr txBox="1"/>
          <p:nvPr/>
        </p:nvSpPr>
        <p:spPr>
          <a:xfrm>
            <a:off x="539552" y="2204864"/>
            <a:ext cx="5979522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git config --global user.name "</a:t>
            </a:r>
            <a:r>
              <a:rPr kumimoji="1" lang="ja-JP" altLang="en-US" dirty="0">
                <a:latin typeface="Consolas" panose="020B0609020204030204" pitchFamily="49" charset="0"/>
              </a:rPr>
              <a:t>ユーザー名</a:t>
            </a:r>
            <a:r>
              <a:rPr kumimoji="1" lang="en-US" altLang="ja-JP" dirty="0">
                <a:latin typeface="Consolas" panose="020B0609020204030204" pitchFamily="49" charset="0"/>
              </a:rPr>
              <a:t>"</a:t>
            </a:r>
          </a:p>
          <a:p>
            <a:r>
              <a:rPr kumimoji="1" lang="en-US" altLang="ja-JP" dirty="0">
                <a:latin typeface="Consolas" panose="020B0609020204030204" pitchFamily="49" charset="0"/>
              </a:rPr>
              <a:t>git config --global </a:t>
            </a:r>
            <a:r>
              <a:rPr kumimoji="1" lang="en-US" altLang="ja-JP" dirty="0" err="1">
                <a:latin typeface="Consolas" panose="020B0609020204030204" pitchFamily="49" charset="0"/>
              </a:rPr>
              <a:t>user.email</a:t>
            </a:r>
            <a:r>
              <a:rPr kumimoji="1" lang="en-US" altLang="ja-JP" dirty="0">
                <a:latin typeface="Consolas" panose="020B0609020204030204" pitchFamily="49" charset="0"/>
              </a:rPr>
              <a:t> "</a:t>
            </a:r>
            <a:r>
              <a:rPr kumimoji="1" lang="ja-JP" altLang="en-US" dirty="0">
                <a:latin typeface="Consolas" panose="020B0609020204030204" pitchFamily="49" charset="0"/>
              </a:rPr>
              <a:t>メールアドレス</a:t>
            </a:r>
            <a:r>
              <a:rPr kumimoji="1" lang="en-US" altLang="ja-JP" dirty="0">
                <a:latin typeface="Consolas" panose="020B0609020204030204" pitchFamily="49" charset="0"/>
              </a:rPr>
              <a:t>“</a:t>
            </a:r>
          </a:p>
          <a:p>
            <a:r>
              <a:rPr kumimoji="1" lang="en-US" altLang="ja-JP" dirty="0">
                <a:latin typeface="Consolas" panose="020B0609020204030204" pitchFamily="49" charset="0"/>
              </a:rPr>
              <a:t>git config --global </a:t>
            </a:r>
            <a:r>
              <a:rPr kumimoji="1" lang="en-US" altLang="ja-JP" dirty="0" err="1">
                <a:latin typeface="Consolas" panose="020B0609020204030204" pitchFamily="49" charset="0"/>
              </a:rPr>
              <a:t>core.editor</a:t>
            </a:r>
            <a:r>
              <a:rPr kumimoji="1" lang="en-US" altLang="ja-JP" dirty="0">
                <a:latin typeface="Consolas" panose="020B0609020204030204" pitchFamily="49" charset="0"/>
              </a:rPr>
              <a:t> vim</a:t>
            </a:r>
          </a:p>
          <a:p>
            <a:r>
              <a:rPr kumimoji="1" lang="en-US" altLang="ja-JP" dirty="0">
                <a:latin typeface="Consolas" panose="020B0609020204030204" pitchFamily="49" charset="0"/>
              </a:rPr>
              <a:t>git config --global </a:t>
            </a:r>
            <a:r>
              <a:rPr kumimoji="1" lang="en-US" altLang="ja-JP" dirty="0" err="1">
                <a:latin typeface="Consolas" panose="020B0609020204030204" pitchFamily="49" charset="0"/>
              </a:rPr>
              <a:t>core.autocrlf</a:t>
            </a:r>
            <a:r>
              <a:rPr kumimoji="1" lang="en-US" altLang="ja-JP" dirty="0">
                <a:latin typeface="Consolas" panose="020B0609020204030204" pitchFamily="49" charset="0"/>
              </a:rPr>
              <a:t> false</a:t>
            </a:r>
          </a:p>
          <a:p>
            <a:r>
              <a:rPr kumimoji="1" lang="en-US" altLang="ja-JP" dirty="0">
                <a:latin typeface="Consolas" panose="020B0609020204030204" pitchFamily="49" charset="0"/>
              </a:rPr>
              <a:t>git config --global </a:t>
            </a:r>
            <a:r>
              <a:rPr kumimoji="1" lang="en-US" altLang="ja-JP" dirty="0" err="1">
                <a:latin typeface="Consolas" panose="020B0609020204030204" pitchFamily="49" charset="0"/>
              </a:rPr>
              <a:t>init.defaultBranch</a:t>
            </a:r>
            <a:r>
              <a:rPr kumimoji="1" lang="en-US" altLang="ja-JP" dirty="0">
                <a:latin typeface="Consolas" panose="020B0609020204030204" pitchFamily="49" charset="0"/>
              </a:rPr>
              <a:t> main</a:t>
            </a:r>
          </a:p>
          <a:p>
            <a:r>
              <a:rPr kumimoji="1" lang="en-US" altLang="ja-JP" dirty="0">
                <a:latin typeface="Consolas" panose="020B0609020204030204" pitchFamily="49" charset="0"/>
              </a:rPr>
              <a:t>git config --global alias.st "status -s"</a:t>
            </a:r>
          </a:p>
        </p:txBody>
      </p:sp>
      <p:pic>
        <p:nvPicPr>
          <p:cNvPr id="23" name="Picture 2" descr="フォルダのイラスト">
            <a:extLst>
              <a:ext uri="{FF2B5EF4-FFF2-40B4-BE49-F238E27FC236}">
                <a16:creationId xmlns:a16="http://schemas.microsoft.com/office/drawing/2014/main" id="{C30570D5-D05E-4140-BE97-0E32241B6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407707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家のイラスト7">
            <a:extLst>
              <a:ext uri="{FF2B5EF4-FFF2-40B4-BE49-F238E27FC236}">
                <a16:creationId xmlns:a16="http://schemas.microsoft.com/office/drawing/2014/main" id="{0E850664-FB0A-43DE-AF7C-94922EADF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4221088"/>
            <a:ext cx="360040" cy="336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ファイルアイコン（テキスト）">
            <a:extLst>
              <a:ext uri="{FF2B5EF4-FFF2-40B4-BE49-F238E27FC236}">
                <a16:creationId xmlns:a16="http://schemas.microsoft.com/office/drawing/2014/main" id="{F5F57010-B496-49C7-8EBE-2053136A0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232" y="4941168"/>
            <a:ext cx="484265" cy="56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D61EB45-6C88-45FD-AE22-5DD6ED78AC10}"/>
              </a:ext>
            </a:extLst>
          </p:cNvPr>
          <p:cNvCxnSpPr>
            <a:stCxn id="23" idx="2"/>
            <a:endCxn id="36" idx="0"/>
          </p:cNvCxnSpPr>
          <p:nvPr/>
        </p:nvCxnSpPr>
        <p:spPr>
          <a:xfrm flipH="1">
            <a:off x="6074365" y="4665062"/>
            <a:ext cx="802" cy="2761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09F5D442-2F5E-4DB0-A5E2-09FC366A0208}"/>
              </a:ext>
            </a:extLst>
          </p:cNvPr>
          <p:cNvSpPr txBox="1"/>
          <p:nvPr/>
        </p:nvSpPr>
        <p:spPr>
          <a:xfrm>
            <a:off x="6516216" y="414908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ホームディレクトリ</a:t>
            </a:r>
            <a:endParaRPr kumimoji="1" lang="ja-JP" altLang="en-US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867AEE9D-E23C-4C86-8B7B-448B638FA499}"/>
              </a:ext>
            </a:extLst>
          </p:cNvPr>
          <p:cNvSpPr txBox="1"/>
          <p:nvPr/>
        </p:nvSpPr>
        <p:spPr>
          <a:xfrm>
            <a:off x="5292080" y="5517232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.</a:t>
            </a:r>
            <a:r>
              <a:rPr kumimoji="1" lang="en-US" altLang="ja-JP" dirty="0" err="1">
                <a:latin typeface="Consolas" panose="020B0609020204030204" pitchFamily="49" charset="0"/>
              </a:rPr>
              <a:t>gitconfig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26897EA-FF1E-47E9-A4A9-1E1CBE6F05BD}"/>
              </a:ext>
            </a:extLst>
          </p:cNvPr>
          <p:cNvSpPr txBox="1"/>
          <p:nvPr/>
        </p:nvSpPr>
        <p:spPr>
          <a:xfrm>
            <a:off x="611560" y="4581128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上記設定は、ホームディレクトリ直下の</a:t>
            </a:r>
            <a:endParaRPr lang="en-US" altLang="ja-JP" dirty="0"/>
          </a:p>
          <a:p>
            <a:r>
              <a:rPr kumimoji="1" lang="en-US" altLang="ja-JP" dirty="0"/>
              <a:t>.</a:t>
            </a:r>
            <a:r>
              <a:rPr kumimoji="1" lang="en-US" altLang="ja-JP" dirty="0" err="1"/>
              <a:t>gitconfig</a:t>
            </a:r>
            <a:r>
              <a:rPr kumimoji="1" lang="ja-JP" altLang="en-US" dirty="0"/>
              <a:t>に書き込まれる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5785257-2350-496E-BE8D-B45E915417F1}"/>
              </a:ext>
            </a:extLst>
          </p:cNvPr>
          <p:cNvSpPr txBox="1"/>
          <p:nvPr/>
        </p:nvSpPr>
        <p:spPr>
          <a:xfrm>
            <a:off x="683568" y="1763524"/>
            <a:ext cx="4634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Git</a:t>
            </a:r>
            <a:r>
              <a:rPr lang="ja-JP" altLang="en-US" dirty="0"/>
              <a:t>に名前やアドレス、その他設定を伝える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58065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C9FC35D-439B-4D2A-B2EE-13619F77BB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 – Step </a:t>
            </a:r>
            <a:r>
              <a:rPr lang="en-US" altLang="ja-JP" dirty="0"/>
              <a:t>2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0A020DB-1700-43A1-8863-48DD090945C5}"/>
              </a:ext>
            </a:extLst>
          </p:cNvPr>
          <p:cNvSpPr txBox="1"/>
          <p:nvPr/>
        </p:nvSpPr>
        <p:spPr>
          <a:xfrm>
            <a:off x="539552" y="2060848"/>
            <a:ext cx="1877437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cd</a:t>
            </a:r>
          </a:p>
          <a:p>
            <a:r>
              <a:rPr kumimoji="1" lang="en-US" altLang="ja-JP" sz="2000" dirty="0" err="1">
                <a:latin typeface="Consolas" panose="020B0609020204030204" pitchFamily="49" charset="0"/>
              </a:rPr>
              <a:t>mkdir</a:t>
            </a:r>
            <a:r>
              <a:rPr kumimoji="1" lang="en-US" altLang="ja-JP" sz="2000" dirty="0">
                <a:latin typeface="Consolas" panose="020B0609020204030204" pitchFamily="49" charset="0"/>
              </a:rPr>
              <a:t> </a:t>
            </a:r>
            <a:r>
              <a:rPr kumimoji="1" lang="en-US" altLang="ja-JP" sz="2000" dirty="0" err="1">
                <a:latin typeface="Consolas" panose="020B0609020204030204" pitchFamily="49" charset="0"/>
              </a:rPr>
              <a:t>github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r>
              <a:rPr kumimoji="1" lang="en-US" altLang="ja-JP" sz="2000" dirty="0">
                <a:latin typeface="Consolas" panose="020B0609020204030204" pitchFamily="49" charset="0"/>
              </a:rPr>
              <a:t>cd </a:t>
            </a:r>
            <a:r>
              <a:rPr kumimoji="1" lang="en-US" altLang="ja-JP" sz="2000" dirty="0" err="1">
                <a:latin typeface="Consolas" panose="020B0609020204030204" pitchFamily="49" charset="0"/>
              </a:rPr>
              <a:t>github</a:t>
            </a:r>
            <a:endParaRPr kumimoji="1" lang="en-US" altLang="ja-JP" sz="2000" dirty="0">
              <a:latin typeface="Consolas" panose="020B0609020204030204" pitchFamily="49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84F612B-D17C-4823-82D6-614DAD7219EE}"/>
              </a:ext>
            </a:extLst>
          </p:cNvPr>
          <p:cNvSpPr txBox="1"/>
          <p:nvPr/>
        </p:nvSpPr>
        <p:spPr>
          <a:xfrm>
            <a:off x="251520" y="1268760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ディレクトリの作成</a:t>
            </a:r>
          </a:p>
        </p:txBody>
      </p:sp>
      <p:pic>
        <p:nvPicPr>
          <p:cNvPr id="21" name="Picture 2" descr="フォルダのイラスト">
            <a:extLst>
              <a:ext uri="{FF2B5EF4-FFF2-40B4-BE49-F238E27FC236}">
                <a16:creationId xmlns:a16="http://schemas.microsoft.com/office/drawing/2014/main" id="{D5FB3222-65A1-4AA0-92CE-1B2E62674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132856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フォルダのイラスト">
            <a:extLst>
              <a:ext uri="{FF2B5EF4-FFF2-40B4-BE49-F238E27FC236}">
                <a16:creationId xmlns:a16="http://schemas.microsoft.com/office/drawing/2014/main" id="{4CED145E-4633-4BC9-95C9-3724E4BE8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2132856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AE57AF4C-CBE6-45D0-A78B-1479F523196D}"/>
              </a:ext>
            </a:extLst>
          </p:cNvPr>
          <p:cNvSpPr txBox="1"/>
          <p:nvPr/>
        </p:nvSpPr>
        <p:spPr>
          <a:xfrm>
            <a:off x="6012160" y="2564904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github</a:t>
            </a:r>
            <a:endParaRPr kumimoji="1" lang="ja-JP" altLang="en-US" dirty="0"/>
          </a:p>
        </p:txBody>
      </p:sp>
      <p:pic>
        <p:nvPicPr>
          <p:cNvPr id="27" name="Picture 2" descr="家のイラスト7">
            <a:extLst>
              <a:ext uri="{FF2B5EF4-FFF2-40B4-BE49-F238E27FC236}">
                <a16:creationId xmlns:a16="http://schemas.microsoft.com/office/drawing/2014/main" id="{8EFC7E64-0F23-4A38-8F9E-D9C772BBE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276872"/>
            <a:ext cx="360040" cy="336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66AA4814-C6FC-4E61-B1A5-67434C00CB5C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>
            <a:off x="5562110" y="2426851"/>
            <a:ext cx="52205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251D9D3-D373-49CD-B56F-E1FD520CBD51}"/>
              </a:ext>
            </a:extLst>
          </p:cNvPr>
          <p:cNvSpPr txBox="1"/>
          <p:nvPr/>
        </p:nvSpPr>
        <p:spPr>
          <a:xfrm>
            <a:off x="755576" y="3284984"/>
            <a:ext cx="41216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ホームディレクトリに移動してから</a:t>
            </a:r>
            <a:endParaRPr lang="en-US" altLang="ja-JP" dirty="0"/>
          </a:p>
          <a:p>
            <a:r>
              <a:rPr kumimoji="1" lang="en-US" altLang="ja-JP" dirty="0"/>
              <a:t>git</a:t>
            </a:r>
            <a:r>
              <a:rPr kumimoji="1" lang="ja-JP" altLang="en-US" dirty="0"/>
              <a:t>ディレクトリ</a:t>
            </a:r>
            <a:r>
              <a:rPr kumimoji="1" lang="ja-JP" altLang="en-US"/>
              <a:t>を作成</a:t>
            </a:r>
            <a:r>
              <a:rPr lang="ja-JP" altLang="en-US"/>
              <a:t>し、そこへ移動</a:t>
            </a:r>
            <a:endParaRPr kumimoji="1" lang="ja-JP" altLang="en-US" dirty="0"/>
          </a:p>
        </p:txBody>
      </p:sp>
      <p:pic>
        <p:nvPicPr>
          <p:cNvPr id="31" name="Picture 2" descr="手を上げている男の子のイラスト">
            <a:extLst>
              <a:ext uri="{FF2B5EF4-FFF2-40B4-BE49-F238E27FC236}">
                <a16:creationId xmlns:a16="http://schemas.microsoft.com/office/drawing/2014/main" id="{1A3E7FD9-5330-4433-B2DC-09F1621EA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012" y="1484784"/>
            <a:ext cx="385188" cy="536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362DFEEA-286C-496A-9AF0-12927DFD9C26}"/>
              </a:ext>
            </a:extLst>
          </p:cNvPr>
          <p:cNvSpPr txBox="1"/>
          <p:nvPr/>
        </p:nvSpPr>
        <p:spPr>
          <a:xfrm>
            <a:off x="6732240" y="1556792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カレント</a:t>
            </a:r>
            <a:endParaRPr lang="en-US" altLang="ja-JP" dirty="0"/>
          </a:p>
          <a:p>
            <a:r>
              <a:rPr lang="ja-JP" altLang="en-US" dirty="0"/>
              <a:t>ディレクトリ</a:t>
            </a:r>
            <a:endParaRPr kumimoji="1" lang="ja-JP" altLang="en-US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301D5A89-DD8F-4621-9496-D65A0CAE355D}"/>
              </a:ext>
            </a:extLst>
          </p:cNvPr>
          <p:cNvSpPr txBox="1"/>
          <p:nvPr/>
        </p:nvSpPr>
        <p:spPr>
          <a:xfrm>
            <a:off x="539552" y="4509120"/>
            <a:ext cx="1595309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 err="1">
                <a:latin typeface="Consolas" panose="020B0609020204030204" pitchFamily="49" charset="0"/>
              </a:rPr>
              <a:t>mkdir</a:t>
            </a:r>
            <a:r>
              <a:rPr kumimoji="1" lang="en-US" altLang="ja-JP" sz="2000" dirty="0">
                <a:latin typeface="Consolas" panose="020B0609020204030204" pitchFamily="49" charset="0"/>
              </a:rPr>
              <a:t> test</a:t>
            </a:r>
          </a:p>
          <a:p>
            <a:r>
              <a:rPr kumimoji="1" lang="en-US" altLang="ja-JP" sz="2000" dirty="0">
                <a:latin typeface="Consolas" panose="020B0609020204030204" pitchFamily="49" charset="0"/>
              </a:rPr>
              <a:t>cd test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C57A7F4-9FAB-477B-B2AC-3399556274E9}"/>
              </a:ext>
            </a:extLst>
          </p:cNvPr>
          <p:cNvSpPr txBox="1"/>
          <p:nvPr/>
        </p:nvSpPr>
        <p:spPr>
          <a:xfrm>
            <a:off x="755576" y="5373216"/>
            <a:ext cx="3788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さらに</a:t>
            </a:r>
            <a:r>
              <a:rPr kumimoji="1" lang="en-US" altLang="ja-JP" dirty="0"/>
              <a:t>test</a:t>
            </a:r>
            <a:r>
              <a:rPr kumimoji="1" lang="ja-JP" altLang="en-US" dirty="0"/>
              <a:t>ディレクトリを作成して</a:t>
            </a:r>
            <a:endParaRPr kumimoji="1" lang="en-US" altLang="ja-JP" dirty="0"/>
          </a:p>
          <a:p>
            <a:r>
              <a:rPr lang="ja-JP" altLang="en-US" dirty="0"/>
              <a:t>そこへ移動</a:t>
            </a:r>
            <a:endParaRPr kumimoji="1" lang="ja-JP" altLang="en-US" dirty="0"/>
          </a:p>
        </p:txBody>
      </p:sp>
      <p:pic>
        <p:nvPicPr>
          <p:cNvPr id="35" name="Picture 2" descr="フォルダのイラスト">
            <a:extLst>
              <a:ext uri="{FF2B5EF4-FFF2-40B4-BE49-F238E27FC236}">
                <a16:creationId xmlns:a16="http://schemas.microsoft.com/office/drawing/2014/main" id="{BF168D21-995B-4069-A814-84BD3BF10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515719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フォルダのイラスト">
            <a:extLst>
              <a:ext uri="{FF2B5EF4-FFF2-40B4-BE49-F238E27FC236}">
                <a16:creationId xmlns:a16="http://schemas.microsoft.com/office/drawing/2014/main" id="{F5D3659D-A854-45A2-BA9D-4F4D2CE42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515719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5EF9FCCA-6BFA-4E02-A703-8517A7458E3A}"/>
              </a:ext>
            </a:extLst>
          </p:cNvPr>
          <p:cNvSpPr txBox="1"/>
          <p:nvPr/>
        </p:nvSpPr>
        <p:spPr>
          <a:xfrm>
            <a:off x="6012160" y="558924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github</a:t>
            </a:r>
            <a:endParaRPr kumimoji="1" lang="ja-JP" altLang="en-US" dirty="0"/>
          </a:p>
        </p:txBody>
      </p:sp>
      <p:pic>
        <p:nvPicPr>
          <p:cNvPr id="38" name="Picture 2" descr="家のイラスト7">
            <a:extLst>
              <a:ext uri="{FF2B5EF4-FFF2-40B4-BE49-F238E27FC236}">
                <a16:creationId xmlns:a16="http://schemas.microsoft.com/office/drawing/2014/main" id="{A7DD775C-2EF4-49AD-8BBA-CB42A18B4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5301208"/>
            <a:ext cx="360040" cy="336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4CE213D7-D7E2-47D6-A11C-5501D1473BE3}"/>
              </a:ext>
            </a:extLst>
          </p:cNvPr>
          <p:cNvCxnSpPr>
            <a:stCxn id="35" idx="3"/>
            <a:endCxn id="36" idx="1"/>
          </p:cNvCxnSpPr>
          <p:nvPr/>
        </p:nvCxnSpPr>
        <p:spPr>
          <a:xfrm>
            <a:off x="5562110" y="5451187"/>
            <a:ext cx="52205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Picture 2" descr="フォルダのイラスト">
            <a:extLst>
              <a:ext uri="{FF2B5EF4-FFF2-40B4-BE49-F238E27FC236}">
                <a16:creationId xmlns:a16="http://schemas.microsoft.com/office/drawing/2014/main" id="{0D4DCE5E-265F-4131-8C70-145C957F5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515719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5021F8FC-BB61-4643-B355-E94A1806EEAB}"/>
              </a:ext>
            </a:extLst>
          </p:cNvPr>
          <p:cNvSpPr txBox="1"/>
          <p:nvPr/>
        </p:nvSpPr>
        <p:spPr>
          <a:xfrm>
            <a:off x="7452320" y="5661248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test</a:t>
            </a:r>
            <a:endParaRPr kumimoji="1" lang="ja-JP" altLang="en-US" dirty="0"/>
          </a:p>
        </p:txBody>
      </p:sp>
      <p:pic>
        <p:nvPicPr>
          <p:cNvPr id="42" name="Picture 2" descr="手を上げている男の子のイラスト">
            <a:extLst>
              <a:ext uri="{FF2B5EF4-FFF2-40B4-BE49-F238E27FC236}">
                <a16:creationId xmlns:a16="http://schemas.microsoft.com/office/drawing/2014/main" id="{79E650B2-C543-4EED-B3C8-171E65868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4509120"/>
            <a:ext cx="385188" cy="536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4ED3C703-CDC9-4077-9CE8-80CB0BE692C1}"/>
              </a:ext>
            </a:extLst>
          </p:cNvPr>
          <p:cNvCxnSpPr>
            <a:cxnSpLocks/>
            <a:stCxn id="40" idx="1"/>
            <a:endCxn id="36" idx="3"/>
          </p:cNvCxnSpPr>
          <p:nvPr/>
        </p:nvCxnSpPr>
        <p:spPr>
          <a:xfrm flipH="1">
            <a:off x="6786246" y="5451187"/>
            <a:ext cx="594066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5618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BA80F7C2-D7F5-E5E9-4E32-C714966A1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132856"/>
            <a:ext cx="6889077" cy="2697714"/>
          </a:xfrm>
          <a:prstGeom prst="rect">
            <a:avLst/>
          </a:prstGeom>
        </p:spPr>
      </p:pic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BE38C31-5AF7-9060-7714-867B2AC1D8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 – Step </a:t>
            </a:r>
            <a:r>
              <a:rPr lang="en-US" altLang="ja-JP" dirty="0"/>
              <a:t>2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F0F3026-5B00-F671-A05D-C8EDF01A17CC}"/>
              </a:ext>
            </a:extLst>
          </p:cNvPr>
          <p:cNvSpPr txBox="1"/>
          <p:nvPr/>
        </p:nvSpPr>
        <p:spPr>
          <a:xfrm>
            <a:off x="179512" y="980728"/>
            <a:ext cx="79944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Git</a:t>
            </a:r>
            <a:r>
              <a:rPr lang="ja-JP" altLang="en-US" dirty="0"/>
              <a:t> </a:t>
            </a:r>
            <a:r>
              <a:rPr lang="en-US" altLang="ja-JP" dirty="0"/>
              <a:t>Bash</a:t>
            </a:r>
            <a:r>
              <a:rPr lang="ja-JP" altLang="en-US" dirty="0"/>
              <a:t>を開いた直後は「ホームディレクトリ」がカレントディレクトリに</a:t>
            </a:r>
            <a:endParaRPr lang="en-US" altLang="ja-JP" dirty="0"/>
          </a:p>
          <a:p>
            <a:r>
              <a:rPr kumimoji="1" lang="ja-JP" altLang="en-US" dirty="0"/>
              <a:t>なっている </a:t>
            </a:r>
            <a:r>
              <a:rPr kumimoji="1" lang="en-US" altLang="ja-JP" dirty="0"/>
              <a:t>(PC</a:t>
            </a:r>
            <a:r>
              <a:rPr kumimoji="1" lang="ja-JP" altLang="en-US" dirty="0"/>
              <a:t>室の環境では</a:t>
            </a:r>
            <a:r>
              <a:rPr kumimoji="1" lang="en-US" altLang="ja-JP" dirty="0"/>
              <a:t>/z/</a:t>
            </a:r>
            <a:r>
              <a:rPr kumimoji="1" lang="ja-JP" altLang="en-US" dirty="0"/>
              <a:t>になっているはず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cxnSp>
        <p:nvCxnSpPr>
          <p:cNvPr id="7" name="コネクタ: カギ線 6">
            <a:extLst>
              <a:ext uri="{FF2B5EF4-FFF2-40B4-BE49-F238E27FC236}">
                <a16:creationId xmlns:a16="http://schemas.microsoft.com/office/drawing/2014/main" id="{247A3DFB-B8D4-F0C0-ECAF-EBE1A392AD7D}"/>
              </a:ext>
            </a:extLst>
          </p:cNvPr>
          <p:cNvCxnSpPr>
            <a:stCxn id="6" idx="2"/>
          </p:cNvCxnSpPr>
          <p:nvPr/>
        </p:nvCxnSpPr>
        <p:spPr>
          <a:xfrm rot="16200000" flipH="1">
            <a:off x="4645214" y="1158605"/>
            <a:ext cx="504056" cy="1440964"/>
          </a:xfrm>
          <a:prstGeom prst="bentConnector3">
            <a:avLst/>
          </a:prstGeom>
          <a:ln w="1905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DB4EC1DF-A5FC-B228-C4F9-78F6422E8053}"/>
              </a:ext>
            </a:extLst>
          </p:cNvPr>
          <p:cNvSpPr/>
          <p:nvPr/>
        </p:nvSpPr>
        <p:spPr>
          <a:xfrm>
            <a:off x="5364088" y="2132856"/>
            <a:ext cx="504056" cy="36004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676A922-5056-6ACA-5064-1E622CD11C9C}"/>
              </a:ext>
            </a:extLst>
          </p:cNvPr>
          <p:cNvSpPr txBox="1"/>
          <p:nvPr/>
        </p:nvSpPr>
        <p:spPr>
          <a:xfrm>
            <a:off x="3563888" y="2492896"/>
            <a:ext cx="226215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ディレクトリを作成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2906152E-D81B-7999-9D68-B0CB580D28E5}"/>
              </a:ext>
            </a:extLst>
          </p:cNvPr>
          <p:cNvCxnSpPr>
            <a:stCxn id="10" idx="1"/>
          </p:cNvCxnSpPr>
          <p:nvPr/>
        </p:nvCxnSpPr>
        <p:spPr>
          <a:xfrm flipH="1" flipV="1">
            <a:off x="2843808" y="2564904"/>
            <a:ext cx="720080" cy="112658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9A093298-2FC9-BF90-665D-80B83F614E24}"/>
              </a:ext>
            </a:extLst>
          </p:cNvPr>
          <p:cNvSpPr/>
          <p:nvPr/>
        </p:nvSpPr>
        <p:spPr>
          <a:xfrm>
            <a:off x="5436096" y="3645024"/>
            <a:ext cx="1296144" cy="36004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コネクタ: カギ線 13">
            <a:extLst>
              <a:ext uri="{FF2B5EF4-FFF2-40B4-BE49-F238E27FC236}">
                <a16:creationId xmlns:a16="http://schemas.microsoft.com/office/drawing/2014/main" id="{35750E3B-B024-D316-95AB-AC61E38390E9}"/>
              </a:ext>
            </a:extLst>
          </p:cNvPr>
          <p:cNvCxnSpPr>
            <a:cxnSpLocks/>
            <a:endCxn id="13" idx="2"/>
          </p:cNvCxnSpPr>
          <p:nvPr/>
        </p:nvCxnSpPr>
        <p:spPr>
          <a:xfrm rot="5400000" flipH="1" flipV="1">
            <a:off x="4443182" y="3444198"/>
            <a:ext cx="1080120" cy="2201852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70ECCCE-9A1B-F751-6CF2-DA878DC0C7BA}"/>
              </a:ext>
            </a:extLst>
          </p:cNvPr>
          <p:cNvSpPr txBox="1"/>
          <p:nvPr/>
        </p:nvSpPr>
        <p:spPr>
          <a:xfrm>
            <a:off x="395536" y="5157192"/>
            <a:ext cx="7981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「</a:t>
            </a:r>
            <a:r>
              <a:rPr kumimoji="1" lang="en-US" altLang="ja-JP" dirty="0"/>
              <a:t>cd </a:t>
            </a:r>
            <a:r>
              <a:rPr kumimoji="1" lang="en-US" altLang="ja-JP" dirty="0" err="1"/>
              <a:t>github</a:t>
            </a:r>
            <a:r>
              <a:rPr kumimoji="1" lang="ja-JP" altLang="en-US" dirty="0"/>
              <a:t>」コマンドにより、カレントディレクトリを</a:t>
            </a:r>
            <a:r>
              <a:rPr kumimoji="1" lang="en-US" altLang="ja-JP" dirty="0" err="1"/>
              <a:t>github</a:t>
            </a:r>
            <a:r>
              <a:rPr kumimoji="1" lang="ja-JP" altLang="en-US" dirty="0"/>
              <a:t>に移動すると</a:t>
            </a:r>
            <a:endParaRPr kumimoji="1" lang="en-US" altLang="ja-JP" dirty="0"/>
          </a:p>
          <a:p>
            <a:r>
              <a:rPr kumimoji="1" lang="ja-JP" altLang="en-US" dirty="0"/>
              <a:t>右の表示が変わる</a:t>
            </a:r>
            <a:r>
              <a:rPr kumimoji="1" lang="en-US" altLang="ja-JP" dirty="0"/>
              <a:t>(/z/</a:t>
            </a:r>
            <a:r>
              <a:rPr kumimoji="1" lang="en-US" altLang="ja-JP" dirty="0" err="1"/>
              <a:t>github</a:t>
            </a:r>
            <a:r>
              <a:rPr kumimoji="1" lang="ja-JP" altLang="en-US" dirty="0"/>
              <a:t>になるはず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27614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BD201B4-8564-9EEC-7283-7789AB16B4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Git Bash</a:t>
            </a:r>
            <a:r>
              <a:rPr kumimoji="1" lang="ja-JP" altLang="en-US" dirty="0"/>
              <a:t>のプロンプト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9677FCC-56E0-B4BA-7C1E-F2C96EDD96FC}"/>
              </a:ext>
            </a:extLst>
          </p:cNvPr>
          <p:cNvSpPr txBox="1"/>
          <p:nvPr/>
        </p:nvSpPr>
        <p:spPr>
          <a:xfrm>
            <a:off x="251520" y="1052736"/>
            <a:ext cx="7848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Git Bash</a:t>
            </a:r>
            <a:r>
              <a:rPr kumimoji="1" lang="ja-JP" altLang="en-US" sz="2000" dirty="0"/>
              <a:t>はカレントディレクトリとカレントブランチを</a:t>
            </a:r>
            <a:r>
              <a:rPr lang="ja-JP" altLang="en-US" sz="2000" dirty="0"/>
              <a:t>表示する</a:t>
            </a:r>
            <a:endParaRPr kumimoji="1" lang="ja-JP" altLang="en-US" sz="20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E48B141-EED6-E679-6425-6F233CBBA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996952"/>
            <a:ext cx="6919560" cy="178323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D8D1EE7-CE52-63C0-D93E-0C46FB692823}"/>
              </a:ext>
            </a:extLst>
          </p:cNvPr>
          <p:cNvSpPr txBox="1"/>
          <p:nvPr/>
        </p:nvSpPr>
        <p:spPr>
          <a:xfrm>
            <a:off x="465936" y="1990581"/>
            <a:ext cx="79944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Git</a:t>
            </a:r>
            <a:r>
              <a:rPr lang="ja-JP" altLang="en-US" dirty="0"/>
              <a:t> </a:t>
            </a:r>
            <a:r>
              <a:rPr lang="en-US" altLang="ja-JP" dirty="0"/>
              <a:t>Bash</a:t>
            </a:r>
            <a:r>
              <a:rPr lang="ja-JP" altLang="en-US" dirty="0"/>
              <a:t>を開いた直後は「ホームディレクトリ」がカレントディレクトリに</a:t>
            </a:r>
            <a:endParaRPr lang="en-US" altLang="ja-JP" dirty="0"/>
          </a:p>
          <a:p>
            <a:r>
              <a:rPr kumimoji="1" lang="ja-JP" altLang="en-US" dirty="0"/>
              <a:t>なっている </a:t>
            </a:r>
            <a:r>
              <a:rPr kumimoji="1" lang="en-US" altLang="ja-JP" dirty="0"/>
              <a:t>(PC</a:t>
            </a:r>
            <a:r>
              <a:rPr kumimoji="1" lang="ja-JP" altLang="en-US" dirty="0"/>
              <a:t>室の環境では</a:t>
            </a:r>
            <a:r>
              <a:rPr kumimoji="1" lang="en-US" altLang="ja-JP" dirty="0"/>
              <a:t>/z/</a:t>
            </a:r>
            <a:r>
              <a:rPr kumimoji="1" lang="ja-JP" altLang="en-US" dirty="0"/>
              <a:t>になっているはず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B70546C-C6E7-FD5D-61F4-F814FA6EDF47}"/>
              </a:ext>
            </a:extLst>
          </p:cNvPr>
          <p:cNvSpPr txBox="1"/>
          <p:nvPr/>
        </p:nvSpPr>
        <p:spPr>
          <a:xfrm>
            <a:off x="251520" y="5373216"/>
            <a:ext cx="7981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「</a:t>
            </a:r>
            <a:r>
              <a:rPr kumimoji="1" lang="en-US" altLang="ja-JP" dirty="0"/>
              <a:t>cd </a:t>
            </a:r>
            <a:r>
              <a:rPr kumimoji="1" lang="en-US" altLang="ja-JP" dirty="0" err="1"/>
              <a:t>github</a:t>
            </a:r>
            <a:r>
              <a:rPr kumimoji="1" lang="ja-JP" altLang="en-US" dirty="0"/>
              <a:t>」コマンドにより、カレントディレクトリを</a:t>
            </a:r>
            <a:r>
              <a:rPr kumimoji="1" lang="en-US" altLang="ja-JP" dirty="0" err="1"/>
              <a:t>github</a:t>
            </a:r>
            <a:r>
              <a:rPr kumimoji="1" lang="ja-JP" altLang="en-US" dirty="0"/>
              <a:t>に移動すると</a:t>
            </a:r>
            <a:endParaRPr kumimoji="1" lang="en-US" altLang="ja-JP" dirty="0"/>
          </a:p>
          <a:p>
            <a:r>
              <a:rPr kumimoji="1" lang="ja-JP" altLang="en-US" dirty="0"/>
              <a:t>右の表示が変わる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9495AE80-03CE-C93E-E8B9-D2CFC05F2275}"/>
              </a:ext>
            </a:extLst>
          </p:cNvPr>
          <p:cNvSpPr/>
          <p:nvPr/>
        </p:nvSpPr>
        <p:spPr>
          <a:xfrm>
            <a:off x="5652120" y="3140968"/>
            <a:ext cx="504056" cy="36004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コネクタ: カギ線 9">
            <a:extLst>
              <a:ext uri="{FF2B5EF4-FFF2-40B4-BE49-F238E27FC236}">
                <a16:creationId xmlns:a16="http://schemas.microsoft.com/office/drawing/2014/main" id="{4B855E2C-7F55-73A8-E767-3B7EDA2E6C0D}"/>
              </a:ext>
            </a:extLst>
          </p:cNvPr>
          <p:cNvCxnSpPr>
            <a:stCxn id="6" idx="2"/>
            <a:endCxn id="8" idx="0"/>
          </p:cNvCxnSpPr>
          <p:nvPr/>
        </p:nvCxnSpPr>
        <p:spPr>
          <a:xfrm rot="16200000" flipH="1">
            <a:off x="4931638" y="2168458"/>
            <a:ext cx="504056" cy="1440964"/>
          </a:xfrm>
          <a:prstGeom prst="bentConnector3">
            <a:avLst/>
          </a:prstGeom>
          <a:ln w="1905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F2340EEE-4C99-1D4E-B685-B5BAFDDBBC03}"/>
              </a:ext>
            </a:extLst>
          </p:cNvPr>
          <p:cNvSpPr/>
          <p:nvPr/>
        </p:nvSpPr>
        <p:spPr>
          <a:xfrm>
            <a:off x="5724128" y="3933056"/>
            <a:ext cx="1296144" cy="36004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A6A5DA05-ED9A-1709-EDFB-9BCD749091CF}"/>
              </a:ext>
            </a:extLst>
          </p:cNvPr>
          <p:cNvCxnSpPr>
            <a:cxnSpLocks/>
            <a:stCxn id="7" idx="0"/>
            <a:endCxn id="11" idx="2"/>
          </p:cNvCxnSpPr>
          <p:nvPr/>
        </p:nvCxnSpPr>
        <p:spPr>
          <a:xfrm rot="5400000" flipH="1" flipV="1">
            <a:off x="4767218" y="3768234"/>
            <a:ext cx="1080120" cy="2129844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075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8E459097-6039-898B-A41F-345483BCF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483043"/>
            <a:ext cx="4690619" cy="4826277"/>
          </a:xfrm>
          <a:prstGeom prst="rect">
            <a:avLst/>
          </a:prstGeom>
        </p:spPr>
      </p:pic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012622C-AF18-0A16-A8B4-58B412C1C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VS Code</a:t>
            </a:r>
            <a:r>
              <a:rPr kumimoji="1" lang="ja-JP" altLang="en-US" dirty="0"/>
              <a:t>の起動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82A18DF6-AB1C-D82B-7313-6A794BC4F169}"/>
              </a:ext>
            </a:extLst>
          </p:cNvPr>
          <p:cNvSpPr/>
          <p:nvPr/>
        </p:nvSpPr>
        <p:spPr>
          <a:xfrm>
            <a:off x="1393985" y="6028275"/>
            <a:ext cx="1521831" cy="28104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FBE4B02-5423-8BD1-7803-2E7A1354E955}"/>
              </a:ext>
            </a:extLst>
          </p:cNvPr>
          <p:cNvSpPr/>
          <p:nvPr/>
        </p:nvSpPr>
        <p:spPr>
          <a:xfrm>
            <a:off x="1789521" y="2129622"/>
            <a:ext cx="1521831" cy="36004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159D715-C6FD-B111-BD16-EF5CC6BA287D}"/>
              </a:ext>
            </a:extLst>
          </p:cNvPr>
          <p:cNvSpPr txBox="1"/>
          <p:nvPr/>
        </p:nvSpPr>
        <p:spPr>
          <a:xfrm>
            <a:off x="395536" y="836712"/>
            <a:ext cx="5258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ja-JP" altLang="en-US" dirty="0"/>
              <a:t>検索ボックスに</a:t>
            </a:r>
            <a:r>
              <a:rPr lang="en-US" altLang="ja-JP" dirty="0" err="1"/>
              <a:t>vscode</a:t>
            </a:r>
            <a:r>
              <a:rPr lang="ja-JP" altLang="en-US" dirty="0"/>
              <a:t>と入力</a:t>
            </a:r>
            <a:endParaRPr lang="en-US" altLang="ja-JP" dirty="0"/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dirty="0"/>
              <a:t>表示された「</a:t>
            </a:r>
            <a:r>
              <a:rPr lang="en-US" altLang="ja-JP" dirty="0"/>
              <a:t>Visual Studio Code</a:t>
            </a:r>
            <a:r>
              <a:rPr kumimoji="1" lang="ja-JP" altLang="en-US" dirty="0"/>
              <a:t>」をクリック</a:t>
            </a:r>
          </a:p>
        </p:txBody>
      </p:sp>
      <p:cxnSp>
        <p:nvCxnSpPr>
          <p:cNvPr id="6" name="コネクタ: カギ線 5">
            <a:extLst>
              <a:ext uri="{FF2B5EF4-FFF2-40B4-BE49-F238E27FC236}">
                <a16:creationId xmlns:a16="http://schemas.microsoft.com/office/drawing/2014/main" id="{EF93BD08-CA8B-A402-28B4-E8CCA6E2C190}"/>
              </a:ext>
            </a:extLst>
          </p:cNvPr>
          <p:cNvCxnSpPr>
            <a:cxnSpLocks/>
            <a:stCxn id="5" idx="1"/>
            <a:endCxn id="3" idx="1"/>
          </p:cNvCxnSpPr>
          <p:nvPr/>
        </p:nvCxnSpPr>
        <p:spPr>
          <a:xfrm rot="10800000" flipH="1" flipV="1">
            <a:off x="395535" y="1159878"/>
            <a:ext cx="998449" cy="5008920"/>
          </a:xfrm>
          <a:prstGeom prst="bentConnector3">
            <a:avLst>
              <a:gd name="adj1" fmla="val -22896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コネクタ: カギ線 6">
            <a:extLst>
              <a:ext uri="{FF2B5EF4-FFF2-40B4-BE49-F238E27FC236}">
                <a16:creationId xmlns:a16="http://schemas.microsoft.com/office/drawing/2014/main" id="{4E5CD875-9AFD-92F0-FFDE-8A4D693C5DED}"/>
              </a:ext>
            </a:extLst>
          </p:cNvPr>
          <p:cNvCxnSpPr>
            <a:cxnSpLocks/>
            <a:endCxn id="4" idx="1"/>
          </p:cNvCxnSpPr>
          <p:nvPr/>
        </p:nvCxnSpPr>
        <p:spPr>
          <a:xfrm rot="16200000" flipH="1">
            <a:off x="871419" y="1391540"/>
            <a:ext cx="1044116" cy="792088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306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6954B868-8E01-8554-B4C6-1B6849D51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516" y="1491864"/>
            <a:ext cx="4972050" cy="3629025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25DE7A25-38B3-26D2-38B1-9AA893FC6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00" y="1485990"/>
            <a:ext cx="3707840" cy="3901194"/>
          </a:xfrm>
          <a:prstGeom prst="rect">
            <a:avLst/>
          </a:prstGeom>
        </p:spPr>
      </p:pic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02927F3-F9A2-6B62-95C8-AA1BBBCBF0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VS Code</a:t>
            </a:r>
            <a:endParaRPr kumimoji="1" lang="ja-JP" altLang="en-US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ACD3FC9A-0C90-B4A5-B176-B6AA831F9E2C}"/>
              </a:ext>
            </a:extLst>
          </p:cNvPr>
          <p:cNvSpPr/>
          <p:nvPr/>
        </p:nvSpPr>
        <p:spPr>
          <a:xfrm>
            <a:off x="539552" y="1556792"/>
            <a:ext cx="720080" cy="28803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E2DF24ED-AAC6-3BD1-DF1E-5C9B79AC7660}"/>
              </a:ext>
            </a:extLst>
          </p:cNvPr>
          <p:cNvSpPr/>
          <p:nvPr/>
        </p:nvSpPr>
        <p:spPr>
          <a:xfrm>
            <a:off x="755576" y="3457383"/>
            <a:ext cx="3096344" cy="28803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E369F8C-022C-7A4F-3EFF-CD297F138D75}"/>
              </a:ext>
            </a:extLst>
          </p:cNvPr>
          <p:cNvSpPr txBox="1"/>
          <p:nvPr/>
        </p:nvSpPr>
        <p:spPr>
          <a:xfrm>
            <a:off x="107504" y="1010368"/>
            <a:ext cx="45897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「</a:t>
            </a:r>
            <a:r>
              <a:rPr kumimoji="1" lang="en-US" altLang="ja-JP" sz="2000" dirty="0"/>
              <a:t>File</a:t>
            </a:r>
            <a:r>
              <a:rPr kumimoji="1" lang="ja-JP" altLang="en-US" sz="2000" dirty="0"/>
              <a:t>」から「</a:t>
            </a:r>
            <a:r>
              <a:rPr kumimoji="1" lang="en-US" altLang="ja-JP" sz="2000" dirty="0"/>
              <a:t>Open Folder…</a:t>
            </a:r>
            <a:r>
              <a:rPr kumimoji="1" lang="ja-JP" altLang="en-US" sz="2000" dirty="0"/>
              <a:t>」を選択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4B3A19F-E345-E637-BE13-2CCEAB5B8013}"/>
              </a:ext>
            </a:extLst>
          </p:cNvPr>
          <p:cNvSpPr txBox="1"/>
          <p:nvPr/>
        </p:nvSpPr>
        <p:spPr>
          <a:xfrm>
            <a:off x="338096" y="5507418"/>
            <a:ext cx="7560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「このフォルダー内のファイルの作成者を</a:t>
            </a:r>
            <a:r>
              <a:rPr kumimoji="1" lang="ja-JP" altLang="en-US" dirty="0"/>
              <a:t>信頼しますか？」という表示が出たら</a:t>
            </a:r>
            <a:r>
              <a:rPr lang="ja-JP" altLang="en-US" dirty="0"/>
              <a:t>「親フォルダー</a:t>
            </a:r>
            <a:r>
              <a:rPr lang="en-US" altLang="ja-JP" dirty="0"/>
              <a:t>`</a:t>
            </a:r>
            <a:r>
              <a:rPr lang="en-US" altLang="ja-JP" dirty="0" err="1"/>
              <a:t>github</a:t>
            </a:r>
            <a:r>
              <a:rPr lang="en-US" altLang="ja-JP" dirty="0"/>
              <a:t>`</a:t>
            </a:r>
            <a:r>
              <a:rPr lang="ja-JP" altLang="en-US" dirty="0"/>
              <a:t>内のすべてのファイルの作成者を信頼します」にチェックを入れてから「はい、作成者を信頼します」を選ぶ</a:t>
            </a:r>
            <a:endParaRPr kumimoji="1" lang="ja-JP" altLang="en-US" dirty="0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BF0E868D-556E-6AD2-E425-5C02725127FA}"/>
              </a:ext>
            </a:extLst>
          </p:cNvPr>
          <p:cNvSpPr/>
          <p:nvPr/>
        </p:nvSpPr>
        <p:spPr>
          <a:xfrm>
            <a:off x="4878034" y="4341322"/>
            <a:ext cx="2070230" cy="38382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66D6B181-0B41-9216-537E-256787FF1460}"/>
              </a:ext>
            </a:extLst>
          </p:cNvPr>
          <p:cNvSpPr/>
          <p:nvPr/>
        </p:nvSpPr>
        <p:spPr>
          <a:xfrm>
            <a:off x="4878034" y="3916807"/>
            <a:ext cx="270030" cy="30428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25673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ECC5855-C9E9-3723-93FC-BB96A1606F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フォルダの開き方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ACA369D-D612-3361-233E-509DE12C7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988840"/>
            <a:ext cx="5734050" cy="441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E072593-8F20-2030-F2DE-8103F8E780F5}"/>
              </a:ext>
            </a:extLst>
          </p:cNvPr>
          <p:cNvSpPr txBox="1"/>
          <p:nvPr/>
        </p:nvSpPr>
        <p:spPr>
          <a:xfrm>
            <a:off x="755576" y="1124744"/>
            <a:ext cx="2151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PC</a:t>
            </a:r>
            <a:r>
              <a:rPr kumimoji="1" lang="ja-JP" altLang="en-US" sz="2400" dirty="0"/>
              <a:t>をクリック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93B77E05-F4BE-2B38-3CBB-C08CF84B4ED1}"/>
              </a:ext>
            </a:extLst>
          </p:cNvPr>
          <p:cNvSpPr/>
          <p:nvPr/>
        </p:nvSpPr>
        <p:spPr>
          <a:xfrm>
            <a:off x="1403648" y="3717032"/>
            <a:ext cx="792088" cy="28803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コネクタ: カギ線 4">
            <a:extLst>
              <a:ext uri="{FF2B5EF4-FFF2-40B4-BE49-F238E27FC236}">
                <a16:creationId xmlns:a16="http://schemas.microsoft.com/office/drawing/2014/main" id="{D8B10118-996B-B4E6-FFBC-251E6262DBF7}"/>
              </a:ext>
            </a:extLst>
          </p:cNvPr>
          <p:cNvCxnSpPr>
            <a:cxnSpLocks/>
            <a:stCxn id="3" idx="1"/>
            <a:endCxn id="4" idx="1"/>
          </p:cNvCxnSpPr>
          <p:nvPr/>
        </p:nvCxnSpPr>
        <p:spPr>
          <a:xfrm rot="10800000" flipH="1" flipV="1">
            <a:off x="755576" y="1355576"/>
            <a:ext cx="648072" cy="2505471"/>
          </a:xfrm>
          <a:prstGeom prst="bentConnector3">
            <a:avLst>
              <a:gd name="adj1" fmla="val -35274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9862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D1316DF1-762A-CA1D-D79D-BD42F20D3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794341"/>
            <a:ext cx="6550109" cy="4065826"/>
          </a:xfrm>
          <a:prstGeom prst="rect">
            <a:avLst/>
          </a:prstGeom>
        </p:spPr>
      </p:pic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F7A2196-BF46-B463-8B56-6A52937D5D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フォルダの開き方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4E36CC0-1513-B288-8AE5-5B7CBD8D613D}"/>
              </a:ext>
            </a:extLst>
          </p:cNvPr>
          <p:cNvSpPr txBox="1"/>
          <p:nvPr/>
        </p:nvSpPr>
        <p:spPr>
          <a:xfrm>
            <a:off x="755576" y="1124744"/>
            <a:ext cx="3536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Windows (Z</a:t>
            </a:r>
            <a:r>
              <a:rPr lang="en-US" altLang="ja-JP" sz="2400" dirty="0">
                <a:sym typeface="Wingdings" panose="05000000000000000000" pitchFamily="2" charset="2"/>
              </a:rPr>
              <a:t>:)</a:t>
            </a:r>
            <a:r>
              <a:rPr lang="ja-JP" altLang="en-US" sz="2400" dirty="0">
                <a:sym typeface="Wingdings" panose="05000000000000000000" pitchFamily="2" charset="2"/>
              </a:rPr>
              <a:t>をクリック</a:t>
            </a:r>
            <a:endParaRPr kumimoji="1" lang="ja-JP" altLang="en-US" sz="2400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9AB7D2AC-BEB7-9041-DEF5-6F542456E64C}"/>
              </a:ext>
            </a:extLst>
          </p:cNvPr>
          <p:cNvSpPr/>
          <p:nvPr/>
        </p:nvSpPr>
        <p:spPr>
          <a:xfrm>
            <a:off x="1043608" y="4581128"/>
            <a:ext cx="792088" cy="26366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コネクタ: カギ線 4">
            <a:extLst>
              <a:ext uri="{FF2B5EF4-FFF2-40B4-BE49-F238E27FC236}">
                <a16:creationId xmlns:a16="http://schemas.microsoft.com/office/drawing/2014/main" id="{A47D9A02-FD61-B3D3-5107-AB20A308BAFF}"/>
              </a:ext>
            </a:extLst>
          </p:cNvPr>
          <p:cNvCxnSpPr>
            <a:cxnSpLocks/>
            <a:stCxn id="3" idx="1"/>
            <a:endCxn id="4" idx="1"/>
          </p:cNvCxnSpPr>
          <p:nvPr/>
        </p:nvCxnSpPr>
        <p:spPr>
          <a:xfrm rot="10800000" flipH="1" flipV="1">
            <a:off x="755576" y="1355577"/>
            <a:ext cx="288032" cy="3357384"/>
          </a:xfrm>
          <a:prstGeom prst="bentConnector3">
            <a:avLst>
              <a:gd name="adj1" fmla="val -79366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3ACE8E44-712D-EFF5-66E9-2E6CCD65C476}"/>
              </a:ext>
            </a:extLst>
          </p:cNvPr>
          <p:cNvSpPr/>
          <p:nvPr/>
        </p:nvSpPr>
        <p:spPr>
          <a:xfrm>
            <a:off x="5652120" y="2773240"/>
            <a:ext cx="1728192" cy="43973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50EEAB5-E3D8-F35F-3216-21168BD19894}"/>
              </a:ext>
            </a:extLst>
          </p:cNvPr>
          <p:cNvSpPr txBox="1"/>
          <p:nvPr/>
        </p:nvSpPr>
        <p:spPr>
          <a:xfrm>
            <a:off x="5680089" y="3267174"/>
            <a:ext cx="1672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こっちでも</a:t>
            </a:r>
            <a:r>
              <a:rPr kumimoji="1" lang="en-US" altLang="ja-JP" dirty="0"/>
              <a:t>OK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97864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3004C40-EBA2-DCE4-4579-6D0B03194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997791"/>
            <a:ext cx="7097821" cy="4402640"/>
          </a:xfrm>
          <a:prstGeom prst="rect">
            <a:avLst/>
          </a:prstGeom>
        </p:spPr>
      </p:pic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6D75AE2-CAA9-2942-2891-3CBCDFF4C7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フォルダの開き方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3655077-6C77-DA62-C20B-A819CC644A93}"/>
              </a:ext>
            </a:extLst>
          </p:cNvPr>
          <p:cNvSpPr txBox="1"/>
          <p:nvPr/>
        </p:nvSpPr>
        <p:spPr>
          <a:xfrm>
            <a:off x="755576" y="1124744"/>
            <a:ext cx="4102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「</a:t>
            </a:r>
            <a:r>
              <a:rPr kumimoji="1" lang="en-US" altLang="ja-JP" sz="2400" dirty="0" err="1"/>
              <a:t>github</a:t>
            </a:r>
            <a:r>
              <a:rPr kumimoji="1" lang="ja-JP" altLang="en-US" sz="2400" dirty="0"/>
              <a:t>」をダブルクリック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1E98F875-DD60-2B2A-2783-F68FF555FA32}"/>
              </a:ext>
            </a:extLst>
          </p:cNvPr>
          <p:cNvSpPr/>
          <p:nvPr/>
        </p:nvSpPr>
        <p:spPr>
          <a:xfrm>
            <a:off x="2456259" y="3717032"/>
            <a:ext cx="794257" cy="20452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コネクタ: カギ線 4">
            <a:extLst>
              <a:ext uri="{FF2B5EF4-FFF2-40B4-BE49-F238E27FC236}">
                <a16:creationId xmlns:a16="http://schemas.microsoft.com/office/drawing/2014/main" id="{AFD21AE9-5E0A-B471-1AC8-5AD7C76EBB9A}"/>
              </a:ext>
            </a:extLst>
          </p:cNvPr>
          <p:cNvCxnSpPr>
            <a:cxnSpLocks/>
            <a:stCxn id="3" idx="1"/>
            <a:endCxn id="4" idx="1"/>
          </p:cNvCxnSpPr>
          <p:nvPr/>
        </p:nvCxnSpPr>
        <p:spPr>
          <a:xfrm rot="10800000" flipH="1" flipV="1">
            <a:off x="755575" y="1355577"/>
            <a:ext cx="1700683" cy="2463716"/>
          </a:xfrm>
          <a:prstGeom prst="bentConnector3">
            <a:avLst>
              <a:gd name="adj1" fmla="val -13442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504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F037BB4E-AB05-FB41-3352-7E44AC021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998" y="1609938"/>
            <a:ext cx="6618004" cy="4163739"/>
          </a:xfrm>
          <a:prstGeom prst="rect">
            <a:avLst/>
          </a:prstGeom>
        </p:spPr>
      </p:pic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827048B-5106-12C7-DCBF-611EACE5FC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フォルダの開き方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485E9DE-A3D8-7866-90DA-B2021F9ECE88}"/>
              </a:ext>
            </a:extLst>
          </p:cNvPr>
          <p:cNvSpPr txBox="1"/>
          <p:nvPr/>
        </p:nvSpPr>
        <p:spPr>
          <a:xfrm>
            <a:off x="755576" y="1124744"/>
            <a:ext cx="4065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「</a:t>
            </a:r>
            <a:r>
              <a:rPr kumimoji="1" lang="en-US" altLang="ja-JP" sz="2400" dirty="0"/>
              <a:t>test</a:t>
            </a:r>
            <a:r>
              <a:rPr kumimoji="1" lang="ja-JP" altLang="en-US" sz="2400" dirty="0"/>
              <a:t>」を</a:t>
            </a:r>
            <a:r>
              <a:rPr kumimoji="1" lang="ja-JP" altLang="en-US" sz="2400" dirty="0">
                <a:solidFill>
                  <a:srgbClr val="FF0000"/>
                </a:solidFill>
              </a:rPr>
              <a:t>シングルクリック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D867B619-8D14-ACB4-23CB-ED461F15A2A4}"/>
              </a:ext>
            </a:extLst>
          </p:cNvPr>
          <p:cNvSpPr/>
          <p:nvPr/>
        </p:nvSpPr>
        <p:spPr>
          <a:xfrm>
            <a:off x="2391215" y="2636912"/>
            <a:ext cx="794257" cy="20452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コネクタ: カギ線 4">
            <a:extLst>
              <a:ext uri="{FF2B5EF4-FFF2-40B4-BE49-F238E27FC236}">
                <a16:creationId xmlns:a16="http://schemas.microsoft.com/office/drawing/2014/main" id="{3D06D016-F074-3EEA-6AB6-963D38FCCC33}"/>
              </a:ext>
            </a:extLst>
          </p:cNvPr>
          <p:cNvCxnSpPr>
            <a:cxnSpLocks/>
            <a:stCxn id="3" idx="1"/>
            <a:endCxn id="4" idx="1"/>
          </p:cNvCxnSpPr>
          <p:nvPr/>
        </p:nvCxnSpPr>
        <p:spPr>
          <a:xfrm rot="10800000" flipH="1" flipV="1">
            <a:off x="755575" y="1355577"/>
            <a:ext cx="1635639" cy="1383596"/>
          </a:xfrm>
          <a:prstGeom prst="bentConnector3">
            <a:avLst>
              <a:gd name="adj1" fmla="val -13976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91D65A3C-DCE8-D8A4-5D36-98C20776429E}"/>
              </a:ext>
            </a:extLst>
          </p:cNvPr>
          <p:cNvSpPr/>
          <p:nvPr/>
        </p:nvSpPr>
        <p:spPr>
          <a:xfrm>
            <a:off x="6300192" y="5445224"/>
            <a:ext cx="794257" cy="20452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AA1B783-31C3-C7E2-61B9-9A58BAB1E4CA}"/>
              </a:ext>
            </a:extLst>
          </p:cNvPr>
          <p:cNvSpPr txBox="1"/>
          <p:nvPr/>
        </p:nvSpPr>
        <p:spPr>
          <a:xfrm>
            <a:off x="1187624" y="6021288"/>
            <a:ext cx="6558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「</a:t>
            </a:r>
            <a:r>
              <a:rPr kumimoji="1" lang="en-US" altLang="ja-JP" dirty="0"/>
              <a:t>test</a:t>
            </a:r>
            <a:r>
              <a:rPr kumimoji="1" lang="ja-JP" altLang="en-US" dirty="0"/>
              <a:t>」が選択された状態で「フォルダーの選択」をクリック</a:t>
            </a:r>
          </a:p>
        </p:txBody>
      </p:sp>
      <p:cxnSp>
        <p:nvCxnSpPr>
          <p:cNvPr id="10" name="コネクタ: カギ線 9">
            <a:extLst>
              <a:ext uri="{FF2B5EF4-FFF2-40B4-BE49-F238E27FC236}">
                <a16:creationId xmlns:a16="http://schemas.microsoft.com/office/drawing/2014/main" id="{81E07E1F-9ACA-54F1-0407-BF0A61FD0B9E}"/>
              </a:ext>
            </a:extLst>
          </p:cNvPr>
          <p:cNvCxnSpPr>
            <a:stCxn id="8" idx="0"/>
            <a:endCxn id="7" idx="1"/>
          </p:cNvCxnSpPr>
          <p:nvPr/>
        </p:nvCxnSpPr>
        <p:spPr>
          <a:xfrm rot="5400000" flipH="1" flipV="1">
            <a:off x="5146558" y="4867655"/>
            <a:ext cx="473803" cy="1833465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4352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BCD38DB-9A8D-4127-8BD3-CC43B5E902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 – Step </a:t>
            </a:r>
            <a:r>
              <a:rPr lang="en-US" altLang="ja-JP" dirty="0"/>
              <a:t>2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227B384-DCAE-4DA2-A8C1-49923CBAACB1}"/>
              </a:ext>
            </a:extLst>
          </p:cNvPr>
          <p:cNvSpPr txBox="1"/>
          <p:nvPr/>
        </p:nvSpPr>
        <p:spPr>
          <a:xfrm>
            <a:off x="251520" y="1268760"/>
            <a:ext cx="4169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README.md</a:t>
            </a:r>
            <a:r>
              <a:rPr lang="ja-JP" altLang="en-US" sz="2400" dirty="0"/>
              <a:t>ファイルの作成</a:t>
            </a:r>
            <a:endParaRPr kumimoji="1" lang="ja-JP" altLang="en-US" sz="2400" dirty="0"/>
          </a:p>
        </p:txBody>
      </p:sp>
      <p:pic>
        <p:nvPicPr>
          <p:cNvPr id="18" name="Picture 2" descr="フォルダのイラスト">
            <a:extLst>
              <a:ext uri="{FF2B5EF4-FFF2-40B4-BE49-F238E27FC236}">
                <a16:creationId xmlns:a16="http://schemas.microsoft.com/office/drawing/2014/main" id="{BBCDD0F4-DDDF-454E-912D-56EB02BEB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772816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フォルダのイラスト">
            <a:extLst>
              <a:ext uri="{FF2B5EF4-FFF2-40B4-BE49-F238E27FC236}">
                <a16:creationId xmlns:a16="http://schemas.microsoft.com/office/drawing/2014/main" id="{0785ED83-447B-46EB-83E5-9CAC8D56A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3137" y="26369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A4294F4-64C7-4A7F-AB4D-3BA2DF5EC8AD}"/>
              </a:ext>
            </a:extLst>
          </p:cNvPr>
          <p:cNvSpPr txBox="1"/>
          <p:nvPr/>
        </p:nvSpPr>
        <p:spPr>
          <a:xfrm>
            <a:off x="5292080" y="2780928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github</a:t>
            </a:r>
            <a:endParaRPr kumimoji="1" lang="ja-JP" altLang="en-US" dirty="0"/>
          </a:p>
        </p:txBody>
      </p:sp>
      <p:pic>
        <p:nvPicPr>
          <p:cNvPr id="21" name="Picture 2" descr="家のイラスト7">
            <a:extLst>
              <a:ext uri="{FF2B5EF4-FFF2-40B4-BE49-F238E27FC236}">
                <a16:creationId xmlns:a16="http://schemas.microsoft.com/office/drawing/2014/main" id="{8124289C-1AD8-471E-81AA-025E89973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1916832"/>
            <a:ext cx="360040" cy="336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フォルダのイラスト">
            <a:extLst>
              <a:ext uri="{FF2B5EF4-FFF2-40B4-BE49-F238E27FC236}">
                <a16:creationId xmlns:a16="http://schemas.microsoft.com/office/drawing/2014/main" id="{F3A76664-E40C-4ED5-B723-91C3E463E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3573016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79D78D1-0929-43C8-8B0F-8B777F797AF9}"/>
              </a:ext>
            </a:extLst>
          </p:cNvPr>
          <p:cNvSpPr txBox="1"/>
          <p:nvPr/>
        </p:nvSpPr>
        <p:spPr>
          <a:xfrm>
            <a:off x="5432370" y="3717032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test</a:t>
            </a:r>
            <a:endParaRPr kumimoji="1" lang="ja-JP" altLang="en-US" dirty="0"/>
          </a:p>
        </p:txBody>
      </p:sp>
      <p:pic>
        <p:nvPicPr>
          <p:cNvPr id="24" name="Picture 2" descr="手を上げている男の子のイラスト">
            <a:extLst>
              <a:ext uri="{FF2B5EF4-FFF2-40B4-BE49-F238E27FC236}">
                <a16:creationId xmlns:a16="http://schemas.microsoft.com/office/drawing/2014/main" id="{F77F9BD4-C580-4C31-952A-F1F15D840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6306" y="3573016"/>
            <a:ext cx="385188" cy="536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ファイルアイコン（テキスト）">
            <a:extLst>
              <a:ext uri="{FF2B5EF4-FFF2-40B4-BE49-F238E27FC236}">
                <a16:creationId xmlns:a16="http://schemas.microsoft.com/office/drawing/2014/main" id="{457543DA-25CA-4446-92A6-5670E59C9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2097" y="4509120"/>
            <a:ext cx="484265" cy="56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9E04318-07FB-45C3-8C3A-DFBE8E195A51}"/>
              </a:ext>
            </a:extLst>
          </p:cNvPr>
          <p:cNvSpPr txBox="1"/>
          <p:nvPr/>
        </p:nvSpPr>
        <p:spPr>
          <a:xfrm>
            <a:off x="5040049" y="5085184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2" name="矢印: 右 31">
            <a:extLst>
              <a:ext uri="{FF2B5EF4-FFF2-40B4-BE49-F238E27FC236}">
                <a16:creationId xmlns:a16="http://schemas.microsoft.com/office/drawing/2014/main" id="{8B166264-89AF-477D-BD20-F4E172F62D90}"/>
              </a:ext>
            </a:extLst>
          </p:cNvPr>
          <p:cNvSpPr/>
          <p:nvPr/>
        </p:nvSpPr>
        <p:spPr>
          <a:xfrm>
            <a:off x="4211960" y="4581128"/>
            <a:ext cx="648072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743F2F71-633E-4CDF-AA4D-CA36E21A59AE}"/>
              </a:ext>
            </a:extLst>
          </p:cNvPr>
          <p:cNvCxnSpPr>
            <a:stCxn id="22" idx="2"/>
            <a:endCxn id="25" idx="0"/>
          </p:cNvCxnSpPr>
          <p:nvPr/>
        </p:nvCxnSpPr>
        <p:spPr>
          <a:xfrm flipH="1">
            <a:off x="5714230" y="4161006"/>
            <a:ext cx="897" cy="34811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CDDC8399-3D8A-4B1C-ABBD-AC20F5079AF4}"/>
              </a:ext>
            </a:extLst>
          </p:cNvPr>
          <p:cNvCxnSpPr/>
          <p:nvPr/>
        </p:nvCxnSpPr>
        <p:spPr>
          <a:xfrm flipH="1">
            <a:off x="5724128" y="3212976"/>
            <a:ext cx="897" cy="34811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90737BB5-2959-4592-A67C-495CCA8FA974}"/>
              </a:ext>
            </a:extLst>
          </p:cNvPr>
          <p:cNvCxnSpPr/>
          <p:nvPr/>
        </p:nvCxnSpPr>
        <p:spPr>
          <a:xfrm flipH="1">
            <a:off x="5724128" y="2348880"/>
            <a:ext cx="897" cy="34811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72085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F153DA6-5536-84C8-6F4B-062087E600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課題</a:t>
            </a:r>
            <a:r>
              <a:rPr kumimoji="1" lang="en-US" altLang="ja-JP"/>
              <a:t> – Step </a:t>
            </a:r>
            <a:r>
              <a:rPr lang="en-US" altLang="ja-JP"/>
              <a:t>2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50287C8-D1F8-6A67-1D3F-8F8BA695C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1484784"/>
            <a:ext cx="5278639" cy="3024336"/>
          </a:xfrm>
          <a:prstGeom prst="rect">
            <a:avLst/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05721CB-BBB1-0F49-F22A-129444404628}"/>
              </a:ext>
            </a:extLst>
          </p:cNvPr>
          <p:cNvSpPr/>
          <p:nvPr/>
        </p:nvSpPr>
        <p:spPr>
          <a:xfrm>
            <a:off x="4067943" y="2420888"/>
            <a:ext cx="216025" cy="21602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310F95BA-DAAF-A5FF-5D50-2045BB8A4206}"/>
              </a:ext>
            </a:extLst>
          </p:cNvPr>
          <p:cNvSpPr/>
          <p:nvPr/>
        </p:nvSpPr>
        <p:spPr>
          <a:xfrm>
            <a:off x="2483768" y="2671748"/>
            <a:ext cx="2664296" cy="25319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2693AED-BAAA-00B5-3B1D-06060A72F7A0}"/>
              </a:ext>
            </a:extLst>
          </p:cNvPr>
          <p:cNvSpPr/>
          <p:nvPr/>
        </p:nvSpPr>
        <p:spPr>
          <a:xfrm>
            <a:off x="4059235" y="2060848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1</a:t>
            </a:r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49AC3385-A6B0-E515-90DB-C6BD234BC854}"/>
              </a:ext>
            </a:extLst>
          </p:cNvPr>
          <p:cNvSpPr/>
          <p:nvPr/>
        </p:nvSpPr>
        <p:spPr>
          <a:xfrm>
            <a:off x="2051720" y="2636912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2</a:t>
            </a:r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E2D32C-F0D9-9B4B-66F2-45EA594BD861}"/>
              </a:ext>
            </a:extLst>
          </p:cNvPr>
          <p:cNvSpPr txBox="1"/>
          <p:nvPr/>
        </p:nvSpPr>
        <p:spPr>
          <a:xfrm>
            <a:off x="1835696" y="4869160"/>
            <a:ext cx="4224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ja-JP" altLang="en-US"/>
              <a:t>ファイルの新規作成ボタンを押して</a:t>
            </a:r>
            <a:endParaRPr kumimoji="1" lang="en-US" altLang="ja-JP"/>
          </a:p>
          <a:p>
            <a:pPr marL="342900" indent="-342900">
              <a:buAutoNum type="arabicPeriod"/>
            </a:pPr>
            <a:r>
              <a:rPr kumimoji="1" lang="ja-JP" altLang="en-US"/>
              <a:t>「</a:t>
            </a:r>
            <a:r>
              <a:rPr kumimoji="1" lang="en-US" altLang="ja-JP"/>
              <a:t>README.md</a:t>
            </a:r>
            <a:r>
              <a:rPr kumimoji="1" lang="ja-JP" altLang="en-US"/>
              <a:t>」と入力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3839228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0B94B1F-CF1F-9387-7049-41A06B1227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課題</a:t>
            </a:r>
            <a:r>
              <a:rPr kumimoji="1" lang="en-US" altLang="ja-JP"/>
              <a:t> – Step </a:t>
            </a:r>
            <a:r>
              <a:rPr lang="en-US" altLang="ja-JP"/>
              <a:t>2</a:t>
            </a:r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05EDEBE-C845-64AE-6346-2096859E7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334357"/>
            <a:ext cx="5828342" cy="1670707"/>
          </a:xfrm>
          <a:prstGeom prst="rect">
            <a:avLst/>
          </a:prstGeom>
        </p:spPr>
      </p:pic>
      <p:sp>
        <p:nvSpPr>
          <p:cNvPr id="4" name="楕円 3">
            <a:extLst>
              <a:ext uri="{FF2B5EF4-FFF2-40B4-BE49-F238E27FC236}">
                <a16:creationId xmlns:a16="http://schemas.microsoft.com/office/drawing/2014/main" id="{369BA526-1DED-C4D8-2801-2D10F1F8F612}"/>
              </a:ext>
            </a:extLst>
          </p:cNvPr>
          <p:cNvSpPr/>
          <p:nvPr/>
        </p:nvSpPr>
        <p:spPr>
          <a:xfrm>
            <a:off x="1601268" y="2731636"/>
            <a:ext cx="262508" cy="26250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30779B2-BC07-F6A4-C63E-33EE24312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4725144"/>
            <a:ext cx="5723660" cy="1794171"/>
          </a:xfrm>
          <a:prstGeom prst="rect">
            <a:avLst/>
          </a:prstGeom>
        </p:spPr>
      </p:pic>
      <p:sp>
        <p:nvSpPr>
          <p:cNvPr id="6" name="楕円 5">
            <a:extLst>
              <a:ext uri="{FF2B5EF4-FFF2-40B4-BE49-F238E27FC236}">
                <a16:creationId xmlns:a16="http://schemas.microsoft.com/office/drawing/2014/main" id="{92063AEC-AF84-DD9D-CE0D-FA5703A02C85}"/>
              </a:ext>
            </a:extLst>
          </p:cNvPr>
          <p:cNvSpPr/>
          <p:nvPr/>
        </p:nvSpPr>
        <p:spPr>
          <a:xfrm>
            <a:off x="1722099" y="5122515"/>
            <a:ext cx="262508" cy="26250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C506330-7DCE-7E78-0CCB-D8829BE686B0}"/>
              </a:ext>
            </a:extLst>
          </p:cNvPr>
          <p:cNvSpPr txBox="1"/>
          <p:nvPr/>
        </p:nvSpPr>
        <p:spPr>
          <a:xfrm>
            <a:off x="971600" y="908720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ファイル内容を入力したら保存すること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73BEA8C-8D40-615E-399F-F07FF8DDD208}"/>
              </a:ext>
            </a:extLst>
          </p:cNvPr>
          <p:cNvSpPr txBox="1"/>
          <p:nvPr/>
        </p:nvSpPr>
        <p:spPr>
          <a:xfrm>
            <a:off x="107504" y="1772816"/>
            <a:ext cx="5724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ファイル名のタブの隣のアイコンが「●」だと未保存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E2CCCC1-0BFF-305D-5004-E68F9D2FE4FC}"/>
              </a:ext>
            </a:extLst>
          </p:cNvPr>
          <p:cNvSpPr txBox="1"/>
          <p:nvPr/>
        </p:nvSpPr>
        <p:spPr>
          <a:xfrm>
            <a:off x="107504" y="4221088"/>
            <a:ext cx="5878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ファイル名のタブの隣のアイコンが「</a:t>
            </a:r>
            <a:r>
              <a:rPr kumimoji="1" lang="en-US" altLang="ja-JP"/>
              <a:t>X</a:t>
            </a:r>
            <a:r>
              <a:rPr kumimoji="1" lang="ja-JP" altLang="en-US"/>
              <a:t>」だ</a:t>
            </a:r>
            <a:r>
              <a:rPr lang="ja-JP" altLang="en-US"/>
              <a:t>と</a:t>
            </a:r>
            <a:r>
              <a:rPr kumimoji="1" lang="ja-JP" altLang="en-US"/>
              <a:t>保存済み</a:t>
            </a:r>
          </a:p>
        </p:txBody>
      </p:sp>
      <p:cxnSp>
        <p:nvCxnSpPr>
          <p:cNvPr id="11" name="コネクタ: カギ線 10">
            <a:extLst>
              <a:ext uri="{FF2B5EF4-FFF2-40B4-BE49-F238E27FC236}">
                <a16:creationId xmlns:a16="http://schemas.microsoft.com/office/drawing/2014/main" id="{86981498-6246-D072-8DF9-D4F7EB2C5927}"/>
              </a:ext>
            </a:extLst>
          </p:cNvPr>
          <p:cNvCxnSpPr>
            <a:cxnSpLocks/>
            <a:stCxn id="8" idx="3"/>
            <a:endCxn id="4" idx="0"/>
          </p:cNvCxnSpPr>
          <p:nvPr/>
        </p:nvCxnSpPr>
        <p:spPr>
          <a:xfrm flipH="1">
            <a:off x="1732522" y="1957482"/>
            <a:ext cx="4099626" cy="774154"/>
          </a:xfrm>
          <a:prstGeom prst="bentConnector4">
            <a:avLst>
              <a:gd name="adj1" fmla="val -5576"/>
              <a:gd name="adj2" fmla="val 61927"/>
            </a:avLst>
          </a:prstGeom>
          <a:ln w="19050">
            <a:solidFill>
              <a:srgbClr val="FFC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19C41DCD-EC7A-57C0-FF60-084C3F97CFEF}"/>
              </a:ext>
            </a:extLst>
          </p:cNvPr>
          <p:cNvCxnSpPr>
            <a:cxnSpLocks/>
            <a:stCxn id="9" idx="3"/>
            <a:endCxn id="6" idx="0"/>
          </p:cNvCxnSpPr>
          <p:nvPr/>
        </p:nvCxnSpPr>
        <p:spPr>
          <a:xfrm flipH="1">
            <a:off x="1853353" y="4405754"/>
            <a:ext cx="4132683" cy="716761"/>
          </a:xfrm>
          <a:prstGeom prst="bentConnector4">
            <a:avLst>
              <a:gd name="adj1" fmla="val -5532"/>
              <a:gd name="adj2" fmla="val 62882"/>
            </a:avLst>
          </a:prstGeom>
          <a:ln w="19050">
            <a:solidFill>
              <a:srgbClr val="FFC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矢印: 左カーブ 15">
            <a:extLst>
              <a:ext uri="{FF2B5EF4-FFF2-40B4-BE49-F238E27FC236}">
                <a16:creationId xmlns:a16="http://schemas.microsoft.com/office/drawing/2014/main" id="{DAB6DCA9-32A6-CB60-7EE2-F0B96E56135B}"/>
              </a:ext>
            </a:extLst>
          </p:cNvPr>
          <p:cNvSpPr/>
          <p:nvPr/>
        </p:nvSpPr>
        <p:spPr>
          <a:xfrm>
            <a:off x="6228184" y="3140968"/>
            <a:ext cx="504056" cy="2232248"/>
          </a:xfrm>
          <a:prstGeom prst="curved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B804D4C-635C-48AD-0C9F-196A6BABB73F}"/>
              </a:ext>
            </a:extLst>
          </p:cNvPr>
          <p:cNvSpPr txBox="1"/>
          <p:nvPr/>
        </p:nvSpPr>
        <p:spPr>
          <a:xfrm>
            <a:off x="6732240" y="3501008"/>
            <a:ext cx="22621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Ctrl+S</a:t>
            </a:r>
          </a:p>
          <a:p>
            <a:r>
              <a:rPr lang="ja-JP" altLang="en-US"/>
              <a:t>もしくは</a:t>
            </a:r>
            <a:endParaRPr lang="en-US" altLang="ja-JP"/>
          </a:p>
          <a:p>
            <a:r>
              <a:rPr kumimoji="1" lang="ja-JP" altLang="en-US"/>
              <a:t>「ファイル」の</a:t>
            </a:r>
            <a:endParaRPr kumimoji="1" lang="en-US" altLang="ja-JP"/>
          </a:p>
          <a:p>
            <a:r>
              <a:rPr lang="ja-JP" altLang="en-US"/>
              <a:t>「保存」をクリック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64755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B4E82F7-D8C3-4EF4-9BE5-671029CE4F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 – Step </a:t>
            </a:r>
            <a:r>
              <a:rPr lang="en-US" altLang="ja-JP" dirty="0"/>
              <a:t>2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087E50B-F937-470F-A788-DADB82256C21}"/>
              </a:ext>
            </a:extLst>
          </p:cNvPr>
          <p:cNvSpPr txBox="1"/>
          <p:nvPr/>
        </p:nvSpPr>
        <p:spPr>
          <a:xfrm>
            <a:off x="251520" y="1268760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リポジトリの初期化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E63A889-7056-4791-9531-03B0E36440CD}"/>
              </a:ext>
            </a:extLst>
          </p:cNvPr>
          <p:cNvSpPr txBox="1"/>
          <p:nvPr/>
        </p:nvSpPr>
        <p:spPr>
          <a:xfrm>
            <a:off x="827584" y="1988840"/>
            <a:ext cx="131318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init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pic>
        <p:nvPicPr>
          <p:cNvPr id="17" name="Picture 2" descr="フォルダのイラスト">
            <a:extLst>
              <a:ext uri="{FF2B5EF4-FFF2-40B4-BE49-F238E27FC236}">
                <a16:creationId xmlns:a16="http://schemas.microsoft.com/office/drawing/2014/main" id="{77C3F71E-1B79-4D45-BFD2-EC76A6B7A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2492896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フォルダのイラスト">
            <a:extLst>
              <a:ext uri="{FF2B5EF4-FFF2-40B4-BE49-F238E27FC236}">
                <a16:creationId xmlns:a16="http://schemas.microsoft.com/office/drawing/2014/main" id="{15B0C44E-9E01-48D7-BE8F-9649C4DAD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1169" y="335699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FE4AB1F-7773-4A51-B51A-075764F71726}"/>
              </a:ext>
            </a:extLst>
          </p:cNvPr>
          <p:cNvSpPr txBox="1"/>
          <p:nvPr/>
        </p:nvSpPr>
        <p:spPr>
          <a:xfrm>
            <a:off x="5631165" y="3491716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github</a:t>
            </a:r>
            <a:endParaRPr kumimoji="1" lang="ja-JP" altLang="en-US" dirty="0"/>
          </a:p>
        </p:txBody>
      </p:sp>
      <p:pic>
        <p:nvPicPr>
          <p:cNvPr id="20" name="Picture 2" descr="家のイラスト7">
            <a:extLst>
              <a:ext uri="{FF2B5EF4-FFF2-40B4-BE49-F238E27FC236}">
                <a16:creationId xmlns:a16="http://schemas.microsoft.com/office/drawing/2014/main" id="{96C92BE0-04C8-484F-A127-C4CB590F4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2636912"/>
            <a:ext cx="360040" cy="336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フォルダのイラスト">
            <a:extLst>
              <a:ext uri="{FF2B5EF4-FFF2-40B4-BE49-F238E27FC236}">
                <a16:creationId xmlns:a16="http://schemas.microsoft.com/office/drawing/2014/main" id="{87237FFD-E698-4ECB-AC79-701CA704C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4293096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6EC6AA8-F466-4F88-B288-5D0543BFDEEC}"/>
              </a:ext>
            </a:extLst>
          </p:cNvPr>
          <p:cNvSpPr txBox="1"/>
          <p:nvPr/>
        </p:nvSpPr>
        <p:spPr>
          <a:xfrm>
            <a:off x="5724128" y="4437112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test</a:t>
            </a:r>
            <a:endParaRPr kumimoji="1" lang="ja-JP" altLang="en-US" dirty="0"/>
          </a:p>
        </p:txBody>
      </p:sp>
      <p:pic>
        <p:nvPicPr>
          <p:cNvPr id="24" name="Picture 2" descr="手を上げている男の子のイラスト">
            <a:extLst>
              <a:ext uri="{FF2B5EF4-FFF2-40B4-BE49-F238E27FC236}">
                <a16:creationId xmlns:a16="http://schemas.microsoft.com/office/drawing/2014/main" id="{BFA8CAA8-BE2C-4A11-A5A6-FDC72144C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4338" y="4293096"/>
            <a:ext cx="385188" cy="536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ファイルアイコン（テキスト）">
            <a:extLst>
              <a:ext uri="{FF2B5EF4-FFF2-40B4-BE49-F238E27FC236}">
                <a16:creationId xmlns:a16="http://schemas.microsoft.com/office/drawing/2014/main" id="{D83F88DB-5F15-49EC-9D1E-2F0F7A929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5301208"/>
            <a:ext cx="484265" cy="56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5B814B22-C6E2-4292-AE9A-8D6A9E02089D}"/>
              </a:ext>
            </a:extLst>
          </p:cNvPr>
          <p:cNvSpPr txBox="1"/>
          <p:nvPr/>
        </p:nvSpPr>
        <p:spPr>
          <a:xfrm>
            <a:off x="6372200" y="5877272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4D4D6C26-848C-4248-B488-E4C7152D1C03}"/>
              </a:ext>
            </a:extLst>
          </p:cNvPr>
          <p:cNvCxnSpPr>
            <a:cxnSpLocks/>
          </p:cNvCxnSpPr>
          <p:nvPr/>
        </p:nvCxnSpPr>
        <p:spPr>
          <a:xfrm>
            <a:off x="6012160" y="3068960"/>
            <a:ext cx="1" cy="2761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円柱 36">
            <a:extLst>
              <a:ext uri="{FF2B5EF4-FFF2-40B4-BE49-F238E27FC236}">
                <a16:creationId xmlns:a16="http://schemas.microsoft.com/office/drawing/2014/main" id="{FB089477-84E1-465E-A03D-9A8EF23FD339}"/>
              </a:ext>
            </a:extLst>
          </p:cNvPr>
          <p:cNvSpPr/>
          <p:nvPr/>
        </p:nvSpPr>
        <p:spPr>
          <a:xfrm>
            <a:off x="5716379" y="5301208"/>
            <a:ext cx="576064" cy="496072"/>
          </a:xfrm>
          <a:prstGeom prst="can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  <a:latin typeface="Consolas" panose="020B0609020204030204" pitchFamily="49" charset="0"/>
              </a:rPr>
              <a:t>.git</a:t>
            </a:r>
            <a:endParaRPr kumimoji="1" lang="ja-JP" altLang="en-US" sz="1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780D1C17-4B15-4CCD-84D0-A1866F77A685}"/>
              </a:ext>
            </a:extLst>
          </p:cNvPr>
          <p:cNvCxnSpPr>
            <a:stCxn id="22" idx="2"/>
            <a:endCxn id="26" idx="0"/>
          </p:cNvCxnSpPr>
          <p:nvPr/>
        </p:nvCxnSpPr>
        <p:spPr>
          <a:xfrm rot="16200000" flipH="1">
            <a:off x="6314709" y="4569536"/>
            <a:ext cx="420122" cy="1043222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D527BD5F-8994-4FD4-B37E-14972D4A5ECD}"/>
              </a:ext>
            </a:extLst>
          </p:cNvPr>
          <p:cNvCxnSpPr>
            <a:stCxn id="22" idx="2"/>
            <a:endCxn id="37" idx="1"/>
          </p:cNvCxnSpPr>
          <p:nvPr/>
        </p:nvCxnSpPr>
        <p:spPr>
          <a:xfrm>
            <a:off x="6003159" y="4881086"/>
            <a:ext cx="1252" cy="42012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344FBCD8-7A8F-4A5D-B382-3FE27B2EE256}"/>
              </a:ext>
            </a:extLst>
          </p:cNvPr>
          <p:cNvSpPr txBox="1"/>
          <p:nvPr/>
        </p:nvSpPr>
        <p:spPr>
          <a:xfrm>
            <a:off x="1835696" y="5301208"/>
            <a:ext cx="30315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.git</a:t>
            </a:r>
            <a:r>
              <a:rPr kumimoji="1" lang="ja-JP" altLang="en-US" dirty="0"/>
              <a:t>ディレクトリが作られ、</a:t>
            </a:r>
            <a:endParaRPr kumimoji="1" lang="en-US" altLang="ja-JP" dirty="0"/>
          </a:p>
          <a:p>
            <a:r>
              <a:rPr lang="en-US" altLang="ja-JP" dirty="0"/>
              <a:t>test</a:t>
            </a:r>
            <a:r>
              <a:rPr lang="ja-JP" altLang="en-US" dirty="0"/>
              <a:t>が</a:t>
            </a:r>
            <a:r>
              <a:rPr lang="en-US" altLang="ja-JP" dirty="0"/>
              <a:t>git</a:t>
            </a:r>
            <a:r>
              <a:rPr lang="ja-JP" altLang="en-US" dirty="0"/>
              <a:t>管理下に入る</a:t>
            </a:r>
            <a:endParaRPr kumimoji="1" lang="ja-JP" altLang="en-US" dirty="0"/>
          </a:p>
        </p:txBody>
      </p:sp>
      <p:sp>
        <p:nvSpPr>
          <p:cNvPr id="43" name="矢印: 右 42">
            <a:extLst>
              <a:ext uri="{FF2B5EF4-FFF2-40B4-BE49-F238E27FC236}">
                <a16:creationId xmlns:a16="http://schemas.microsoft.com/office/drawing/2014/main" id="{373C243E-6166-44CF-8E1A-E2CD3FA62F7F}"/>
              </a:ext>
            </a:extLst>
          </p:cNvPr>
          <p:cNvSpPr/>
          <p:nvPr/>
        </p:nvSpPr>
        <p:spPr>
          <a:xfrm>
            <a:off x="4860032" y="5373216"/>
            <a:ext cx="648072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621CC2CF-DE5F-4557-8A96-2DA816C1AC6C}"/>
              </a:ext>
            </a:extLst>
          </p:cNvPr>
          <p:cNvCxnSpPr>
            <a:cxnSpLocks/>
          </p:cNvCxnSpPr>
          <p:nvPr/>
        </p:nvCxnSpPr>
        <p:spPr>
          <a:xfrm>
            <a:off x="6012160" y="3933056"/>
            <a:ext cx="1" cy="27610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96319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BFAC4EF-04F9-BE5D-73B7-33540BAB41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Git Bash</a:t>
            </a:r>
            <a:r>
              <a:rPr kumimoji="1" lang="ja-JP" altLang="en-US" dirty="0"/>
              <a:t>とカレントブランチ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2D7D03B-BAF1-33AF-422B-13AB2DAE0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060848"/>
            <a:ext cx="8280920" cy="1977796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C5AC089-5716-F288-5693-3796B6FEFE6B}"/>
              </a:ext>
            </a:extLst>
          </p:cNvPr>
          <p:cNvSpPr txBox="1"/>
          <p:nvPr/>
        </p:nvSpPr>
        <p:spPr>
          <a:xfrm>
            <a:off x="107504" y="1196752"/>
            <a:ext cx="6904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Git Bash</a:t>
            </a:r>
            <a:r>
              <a:rPr kumimoji="1" lang="ja-JP" altLang="en-US" dirty="0"/>
              <a:t>は、カレントディレクトリが</a:t>
            </a:r>
            <a:r>
              <a:rPr kumimoji="1" lang="en-US" altLang="ja-JP" dirty="0"/>
              <a:t>Git</a:t>
            </a:r>
            <a:r>
              <a:rPr kumimoji="1" lang="ja-JP" altLang="en-US" dirty="0"/>
              <a:t>リポジトリでない場合は</a:t>
            </a:r>
            <a:endParaRPr kumimoji="1" lang="en-US" altLang="ja-JP" dirty="0"/>
          </a:p>
          <a:p>
            <a:r>
              <a:rPr lang="ja-JP" altLang="en-US" dirty="0"/>
              <a:t>カレントディレクトリしか表示しない</a:t>
            </a:r>
            <a:endParaRPr kumimoji="1" lang="ja-JP" altLang="en-US" dirty="0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D6562265-6F6F-E7A6-9B5F-CCA468041581}"/>
              </a:ext>
            </a:extLst>
          </p:cNvPr>
          <p:cNvSpPr/>
          <p:nvPr/>
        </p:nvSpPr>
        <p:spPr>
          <a:xfrm>
            <a:off x="3995936" y="2132856"/>
            <a:ext cx="1512168" cy="28803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コネクタ: カギ線 6">
            <a:extLst>
              <a:ext uri="{FF2B5EF4-FFF2-40B4-BE49-F238E27FC236}">
                <a16:creationId xmlns:a16="http://schemas.microsoft.com/office/drawing/2014/main" id="{BB585F45-4895-BA56-A7CF-FCEC90341BED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rot="16200000" flipH="1">
            <a:off x="4010989" y="1391824"/>
            <a:ext cx="289773" cy="1192289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82C054D1-0E29-6352-4F14-C418F64C0590}"/>
              </a:ext>
            </a:extLst>
          </p:cNvPr>
          <p:cNvSpPr/>
          <p:nvPr/>
        </p:nvSpPr>
        <p:spPr>
          <a:xfrm>
            <a:off x="5580112" y="2924944"/>
            <a:ext cx="720080" cy="288032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コネクタ: カギ線 8">
            <a:extLst>
              <a:ext uri="{FF2B5EF4-FFF2-40B4-BE49-F238E27FC236}">
                <a16:creationId xmlns:a16="http://schemas.microsoft.com/office/drawing/2014/main" id="{63D7A4C3-6FD4-90EC-403A-0F384150FAFC}"/>
              </a:ext>
            </a:extLst>
          </p:cNvPr>
          <p:cNvCxnSpPr>
            <a:cxnSpLocks/>
            <a:stCxn id="10" idx="0"/>
            <a:endCxn id="8" idx="2"/>
          </p:cNvCxnSpPr>
          <p:nvPr/>
        </p:nvCxnSpPr>
        <p:spPr>
          <a:xfrm rot="5400000" flipH="1" flipV="1">
            <a:off x="4608004" y="3104964"/>
            <a:ext cx="1224136" cy="1440160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982D92B-3EF4-9222-A286-411804C7EDBE}"/>
              </a:ext>
            </a:extLst>
          </p:cNvPr>
          <p:cNvSpPr txBox="1"/>
          <p:nvPr/>
        </p:nvSpPr>
        <p:spPr>
          <a:xfrm>
            <a:off x="251520" y="4437112"/>
            <a:ext cx="8496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カレントディレクトリが</a:t>
            </a:r>
            <a:r>
              <a:rPr lang="en-US" altLang="ja-JP" dirty="0"/>
              <a:t>Git</a:t>
            </a:r>
            <a:r>
              <a:rPr lang="ja-JP" altLang="en-US" dirty="0"/>
              <a:t>リポジトリの場合は、カレントブランチを</a:t>
            </a:r>
            <a:r>
              <a:rPr kumimoji="1" lang="ja-JP" altLang="en-US" dirty="0"/>
              <a:t>表示する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A7365D2-B683-5D7D-FB20-DDC0F9D51698}"/>
              </a:ext>
            </a:extLst>
          </p:cNvPr>
          <p:cNvSpPr txBox="1"/>
          <p:nvPr/>
        </p:nvSpPr>
        <p:spPr>
          <a:xfrm>
            <a:off x="107504" y="5589240"/>
            <a:ext cx="8956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プロンプトを見て、カレントディレクトリとカレントブランチを</a:t>
            </a:r>
            <a:r>
              <a:rPr lang="ja-JP" altLang="en-US" dirty="0"/>
              <a:t>常に</a:t>
            </a:r>
            <a:r>
              <a:rPr kumimoji="1" lang="ja-JP" altLang="en-US" dirty="0"/>
              <a:t>確認すること</a:t>
            </a:r>
          </a:p>
        </p:txBody>
      </p:sp>
    </p:spTree>
    <p:extLst>
      <p:ext uri="{BB962C8B-B14F-4D97-AF65-F5344CB8AC3E}">
        <p14:creationId xmlns:p14="http://schemas.microsoft.com/office/powerpoint/2010/main" val="929272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0D6949F-1813-4447-9157-E9ED377813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 – Step 3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825AA7E-4BB7-4B61-A922-AD85F3607730}"/>
              </a:ext>
            </a:extLst>
          </p:cNvPr>
          <p:cNvSpPr txBox="1"/>
          <p:nvPr/>
        </p:nvSpPr>
        <p:spPr>
          <a:xfrm>
            <a:off x="251520" y="1268760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インデックスへの追加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1B33A85-598F-4AE2-A492-6901FCB76B85}"/>
              </a:ext>
            </a:extLst>
          </p:cNvPr>
          <p:cNvSpPr txBox="1"/>
          <p:nvPr/>
        </p:nvSpPr>
        <p:spPr>
          <a:xfrm>
            <a:off x="827584" y="1988840"/>
            <a:ext cx="258275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add </a:t>
            </a:r>
            <a:r>
              <a:rPr lang="en-US" altLang="ja-JP" sz="2000" dirty="0">
                <a:latin typeface="Consolas" panose="020B0609020204030204" pitchFamily="49" charset="0"/>
              </a:rPr>
              <a:t>README.md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pic>
        <p:nvPicPr>
          <p:cNvPr id="5" name="Picture 2" descr="フォルダのイラスト">
            <a:extLst>
              <a:ext uri="{FF2B5EF4-FFF2-40B4-BE49-F238E27FC236}">
                <a16:creationId xmlns:a16="http://schemas.microsoft.com/office/drawing/2014/main" id="{18D15AF1-F12E-4775-9B54-8D28C7159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F8407356-2EEF-475B-BD96-744D38FA28A5}"/>
              </a:ext>
            </a:extLst>
          </p:cNvPr>
          <p:cNvCxnSpPr>
            <a:stCxn id="5" idx="2"/>
          </p:cNvCxnSpPr>
          <p:nvPr/>
        </p:nvCxnSpPr>
        <p:spPr>
          <a:xfrm>
            <a:off x="1682679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F6A0015E-52EB-4515-BE29-BA3C6882C986}"/>
              </a:ext>
            </a:extLst>
          </p:cNvPr>
          <p:cNvSpPr/>
          <p:nvPr/>
        </p:nvSpPr>
        <p:spPr>
          <a:xfrm>
            <a:off x="755576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Picture 2" descr="ファイルアイコン（テキスト）">
            <a:extLst>
              <a:ext uri="{FF2B5EF4-FFF2-40B4-BE49-F238E27FC236}">
                <a16:creationId xmlns:a16="http://schemas.microsoft.com/office/drawing/2014/main" id="{64E6CA5A-13F5-47BA-B83D-5B9015506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439" y="5229200"/>
            <a:ext cx="484265" cy="56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EC905F6-249C-4A58-AA57-00DBC66FD999}"/>
              </a:ext>
            </a:extLst>
          </p:cNvPr>
          <p:cNvSpPr txBox="1"/>
          <p:nvPr/>
        </p:nvSpPr>
        <p:spPr>
          <a:xfrm>
            <a:off x="1187624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19" name="Picture 2" descr="フォルダのイラスト">
            <a:extLst>
              <a:ext uri="{FF2B5EF4-FFF2-40B4-BE49-F238E27FC236}">
                <a16:creationId xmlns:a16="http://schemas.microsoft.com/office/drawing/2014/main" id="{5159C917-48D7-4BAF-AD52-D9DE66C76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00DF17CC-3FE4-49A5-BE69-8BF1AB65E3E3}"/>
              </a:ext>
            </a:extLst>
          </p:cNvPr>
          <p:cNvCxnSpPr>
            <a:stCxn id="19" idx="2"/>
          </p:cNvCxnSpPr>
          <p:nvPr/>
        </p:nvCxnSpPr>
        <p:spPr>
          <a:xfrm>
            <a:off x="4274967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46607ACB-C4D2-4AEA-AA27-6B16591991E7}"/>
              </a:ext>
            </a:extLst>
          </p:cNvPr>
          <p:cNvSpPr/>
          <p:nvPr/>
        </p:nvSpPr>
        <p:spPr>
          <a:xfrm>
            <a:off x="3347864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2" name="Picture 2" descr="ファイルアイコン（テキスト）">
            <a:extLst>
              <a:ext uri="{FF2B5EF4-FFF2-40B4-BE49-F238E27FC236}">
                <a16:creationId xmlns:a16="http://schemas.microsoft.com/office/drawing/2014/main" id="{73743BD5-BD1A-4DD4-BDD2-6DFB06184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727" y="5229200"/>
            <a:ext cx="484265" cy="56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47AAFE6-BB9E-4885-81F0-9E9231CD98EE}"/>
              </a:ext>
            </a:extLst>
          </p:cNvPr>
          <p:cNvSpPr txBox="1"/>
          <p:nvPr/>
        </p:nvSpPr>
        <p:spPr>
          <a:xfrm>
            <a:off x="3779912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24" name="Picture 2" descr="フォルダのイラスト">
            <a:extLst>
              <a:ext uri="{FF2B5EF4-FFF2-40B4-BE49-F238E27FC236}">
                <a16:creationId xmlns:a16="http://schemas.microsoft.com/office/drawing/2014/main" id="{8B6AEA84-91AE-452E-BC80-4C3815317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8944F465-D15F-48A4-96C6-C8FB81148BD2}"/>
              </a:ext>
            </a:extLst>
          </p:cNvPr>
          <p:cNvSpPr/>
          <p:nvPr/>
        </p:nvSpPr>
        <p:spPr>
          <a:xfrm>
            <a:off x="5868144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矢印: 右 28">
            <a:extLst>
              <a:ext uri="{FF2B5EF4-FFF2-40B4-BE49-F238E27FC236}">
                <a16:creationId xmlns:a16="http://schemas.microsoft.com/office/drawing/2014/main" id="{874424C5-0573-4682-B7EA-E49F5B2D2D60}"/>
              </a:ext>
            </a:extLst>
          </p:cNvPr>
          <p:cNvSpPr/>
          <p:nvPr/>
        </p:nvSpPr>
        <p:spPr>
          <a:xfrm>
            <a:off x="2051720" y="5301208"/>
            <a:ext cx="1728192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1F82EC86-2977-4C28-BB73-5AF69C541EC4}"/>
              </a:ext>
            </a:extLst>
          </p:cNvPr>
          <p:cNvSpPr txBox="1"/>
          <p:nvPr/>
        </p:nvSpPr>
        <p:spPr>
          <a:xfrm>
            <a:off x="827584" y="357301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ワーキングツリー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1AC9E01-679D-441B-B21A-76087C293D98}"/>
              </a:ext>
            </a:extLst>
          </p:cNvPr>
          <p:cNvSpPr txBox="1"/>
          <p:nvPr/>
        </p:nvSpPr>
        <p:spPr>
          <a:xfrm>
            <a:off x="3491880" y="357301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インデックス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39495AEB-2F4F-41F2-9635-E3DB7E7A516E}"/>
              </a:ext>
            </a:extLst>
          </p:cNvPr>
          <p:cNvSpPr txBox="1"/>
          <p:nvPr/>
        </p:nvSpPr>
        <p:spPr>
          <a:xfrm>
            <a:off x="6012160" y="35730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リポジトリ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D09CB076-973F-48F3-8C7F-C189F563791D}"/>
              </a:ext>
            </a:extLst>
          </p:cNvPr>
          <p:cNvSpPr txBox="1"/>
          <p:nvPr/>
        </p:nvSpPr>
        <p:spPr>
          <a:xfrm>
            <a:off x="1475656" y="2708920"/>
            <a:ext cx="5955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ワーキングツリーからインデックスにファイルをコピー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014885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C044F2A-E9B1-4104-BECB-B0166C9B95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課題</a:t>
            </a:r>
            <a:r>
              <a:rPr kumimoji="1" lang="en-US" altLang="ja-JP"/>
              <a:t> </a:t>
            </a:r>
            <a:r>
              <a:rPr kumimoji="1" lang="en-US" altLang="ja-JP" dirty="0"/>
              <a:t>– Step 3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27A60BF-4548-4F4F-B14C-6E59F44C5D19}"/>
              </a:ext>
            </a:extLst>
          </p:cNvPr>
          <p:cNvSpPr txBox="1"/>
          <p:nvPr/>
        </p:nvSpPr>
        <p:spPr>
          <a:xfrm>
            <a:off x="251520" y="126876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コミット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4CB4B13-3307-4ED9-901F-6BA79FBA4F22}"/>
              </a:ext>
            </a:extLst>
          </p:cNvPr>
          <p:cNvSpPr txBox="1"/>
          <p:nvPr/>
        </p:nvSpPr>
        <p:spPr>
          <a:xfrm>
            <a:off x="827584" y="1988840"/>
            <a:ext cx="4416594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commit -m "initial commit"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pic>
        <p:nvPicPr>
          <p:cNvPr id="5" name="Picture 2" descr="フォルダのイラスト">
            <a:extLst>
              <a:ext uri="{FF2B5EF4-FFF2-40B4-BE49-F238E27FC236}">
                <a16:creationId xmlns:a16="http://schemas.microsoft.com/office/drawing/2014/main" id="{AFCC4506-6EF1-4C11-886B-1AA798906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9C002ECE-D992-48EE-BBFC-26BB431EBDA1}"/>
              </a:ext>
            </a:extLst>
          </p:cNvPr>
          <p:cNvCxnSpPr>
            <a:stCxn id="5" idx="2"/>
          </p:cNvCxnSpPr>
          <p:nvPr/>
        </p:nvCxnSpPr>
        <p:spPr>
          <a:xfrm>
            <a:off x="1682679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864E9760-6DF0-49F4-BDA6-1B9B3B8F89EE}"/>
              </a:ext>
            </a:extLst>
          </p:cNvPr>
          <p:cNvSpPr/>
          <p:nvPr/>
        </p:nvSpPr>
        <p:spPr>
          <a:xfrm>
            <a:off x="755576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Picture 2" descr="ファイルアイコン（テキスト）">
            <a:extLst>
              <a:ext uri="{FF2B5EF4-FFF2-40B4-BE49-F238E27FC236}">
                <a16:creationId xmlns:a16="http://schemas.microsoft.com/office/drawing/2014/main" id="{9275D18B-91FE-4672-A60A-06C2D528F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439" y="5229200"/>
            <a:ext cx="484265" cy="56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B143E6E-CFE1-4DEF-80CC-B611125003DB}"/>
              </a:ext>
            </a:extLst>
          </p:cNvPr>
          <p:cNvSpPr txBox="1"/>
          <p:nvPr/>
        </p:nvSpPr>
        <p:spPr>
          <a:xfrm>
            <a:off x="1187624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10" name="Picture 2" descr="フォルダのイラスト">
            <a:extLst>
              <a:ext uri="{FF2B5EF4-FFF2-40B4-BE49-F238E27FC236}">
                <a16:creationId xmlns:a16="http://schemas.microsoft.com/office/drawing/2014/main" id="{7363E7AC-8F23-46D8-8110-D0CCD7EAE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377E327B-683D-4BC0-A824-1214247B3971}"/>
              </a:ext>
            </a:extLst>
          </p:cNvPr>
          <p:cNvCxnSpPr>
            <a:stCxn id="10" idx="2"/>
          </p:cNvCxnSpPr>
          <p:nvPr/>
        </p:nvCxnSpPr>
        <p:spPr>
          <a:xfrm>
            <a:off x="4274967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AAF400B6-519E-4143-BDF6-8C69FFB8F2E1}"/>
              </a:ext>
            </a:extLst>
          </p:cNvPr>
          <p:cNvSpPr/>
          <p:nvPr/>
        </p:nvSpPr>
        <p:spPr>
          <a:xfrm>
            <a:off x="3347864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Picture 2" descr="ファイルアイコン（テキスト）">
            <a:extLst>
              <a:ext uri="{FF2B5EF4-FFF2-40B4-BE49-F238E27FC236}">
                <a16:creationId xmlns:a16="http://schemas.microsoft.com/office/drawing/2014/main" id="{57E67C90-602D-4B8F-AF7D-0C3046A1C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727" y="5229200"/>
            <a:ext cx="484265" cy="56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1B85D97-F03E-46FF-B069-8638687F9CD9}"/>
              </a:ext>
            </a:extLst>
          </p:cNvPr>
          <p:cNvSpPr txBox="1"/>
          <p:nvPr/>
        </p:nvSpPr>
        <p:spPr>
          <a:xfrm>
            <a:off x="3779912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F9F78F5C-4238-4E12-BE00-777DA5E19091}"/>
              </a:ext>
            </a:extLst>
          </p:cNvPr>
          <p:cNvSpPr/>
          <p:nvPr/>
        </p:nvSpPr>
        <p:spPr>
          <a:xfrm>
            <a:off x="5868144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4AC4432E-56B6-4897-B4D7-A6370163854E}"/>
              </a:ext>
            </a:extLst>
          </p:cNvPr>
          <p:cNvSpPr/>
          <p:nvPr/>
        </p:nvSpPr>
        <p:spPr>
          <a:xfrm>
            <a:off x="4716016" y="5229200"/>
            <a:ext cx="1728192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DE99E06-1840-4160-B6C7-2A3FC18B3DC5}"/>
              </a:ext>
            </a:extLst>
          </p:cNvPr>
          <p:cNvSpPr txBox="1"/>
          <p:nvPr/>
        </p:nvSpPr>
        <p:spPr>
          <a:xfrm>
            <a:off x="827584" y="357301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ワーキングツリー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C624F78-94AE-4131-80CE-44F196FF2749}"/>
              </a:ext>
            </a:extLst>
          </p:cNvPr>
          <p:cNvSpPr txBox="1"/>
          <p:nvPr/>
        </p:nvSpPr>
        <p:spPr>
          <a:xfrm>
            <a:off x="3491880" y="357301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インデックス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CEF9DDC-236F-43EF-B304-812529301BDA}"/>
              </a:ext>
            </a:extLst>
          </p:cNvPr>
          <p:cNvSpPr txBox="1"/>
          <p:nvPr/>
        </p:nvSpPr>
        <p:spPr>
          <a:xfrm>
            <a:off x="6012160" y="35730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リポジトリ</a:t>
            </a:r>
          </a:p>
        </p:txBody>
      </p:sp>
      <p:pic>
        <p:nvPicPr>
          <p:cNvPr id="21" name="Picture 2" descr="フォルダのイラスト">
            <a:extLst>
              <a:ext uri="{FF2B5EF4-FFF2-40B4-BE49-F238E27FC236}">
                <a16:creationId xmlns:a16="http://schemas.microsoft.com/office/drawing/2014/main" id="{FAC21D74-DDF3-4099-B0CC-9D3006FBF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ADD09C60-E1C5-4C67-BB45-7C36ADE5AED3}"/>
              </a:ext>
            </a:extLst>
          </p:cNvPr>
          <p:cNvCxnSpPr>
            <a:stCxn id="21" idx="2"/>
          </p:cNvCxnSpPr>
          <p:nvPr/>
        </p:nvCxnSpPr>
        <p:spPr>
          <a:xfrm>
            <a:off x="6723239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" descr="ファイルアイコン（テキスト）">
            <a:extLst>
              <a:ext uri="{FF2B5EF4-FFF2-40B4-BE49-F238E27FC236}">
                <a16:creationId xmlns:a16="http://schemas.microsoft.com/office/drawing/2014/main" id="{53C6285C-E235-4376-8BA0-DF8A0E388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999" y="5229200"/>
            <a:ext cx="484265" cy="56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4202957-59C0-4167-AA2C-F689CD356300}"/>
              </a:ext>
            </a:extLst>
          </p:cNvPr>
          <p:cNvSpPr txBox="1"/>
          <p:nvPr/>
        </p:nvSpPr>
        <p:spPr>
          <a:xfrm>
            <a:off x="6228184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1801783-29F6-4E43-9D25-422F7511EF06}"/>
              </a:ext>
            </a:extLst>
          </p:cNvPr>
          <p:cNvSpPr txBox="1"/>
          <p:nvPr/>
        </p:nvSpPr>
        <p:spPr>
          <a:xfrm>
            <a:off x="1475656" y="2708920"/>
            <a:ext cx="7109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インデックスの状態をそのまま「歴史」としてリポジトリに保存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5029266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4C3F404-F3AC-493B-AC7A-900511F1AA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 – Step 4</a:t>
            </a:r>
            <a:endParaRPr kumimoji="1" lang="ja-JP" altLang="en-US" dirty="0"/>
          </a:p>
        </p:txBody>
      </p:sp>
      <p:pic>
        <p:nvPicPr>
          <p:cNvPr id="3" name="Picture 2" descr="フォルダのイラスト">
            <a:extLst>
              <a:ext uri="{FF2B5EF4-FFF2-40B4-BE49-F238E27FC236}">
                <a16:creationId xmlns:a16="http://schemas.microsoft.com/office/drawing/2014/main" id="{51FEB80B-F806-4E0D-8C23-4120D5F0C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BFB6237-014B-4018-AA52-B07284284A20}"/>
              </a:ext>
            </a:extLst>
          </p:cNvPr>
          <p:cNvCxnSpPr>
            <a:stCxn id="3" idx="2"/>
          </p:cNvCxnSpPr>
          <p:nvPr/>
        </p:nvCxnSpPr>
        <p:spPr>
          <a:xfrm>
            <a:off x="1682679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615D383-F43B-4ADB-89C7-D08ECF3AF267}"/>
              </a:ext>
            </a:extLst>
          </p:cNvPr>
          <p:cNvSpPr/>
          <p:nvPr/>
        </p:nvSpPr>
        <p:spPr>
          <a:xfrm>
            <a:off x="755576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F98F496-17C7-4AE3-BC45-06EBAA1C1513}"/>
              </a:ext>
            </a:extLst>
          </p:cNvPr>
          <p:cNvSpPr txBox="1"/>
          <p:nvPr/>
        </p:nvSpPr>
        <p:spPr>
          <a:xfrm>
            <a:off x="1187624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8" name="Picture 2" descr="フォルダのイラスト">
            <a:extLst>
              <a:ext uri="{FF2B5EF4-FFF2-40B4-BE49-F238E27FC236}">
                <a16:creationId xmlns:a16="http://schemas.microsoft.com/office/drawing/2014/main" id="{334AC403-8E2D-4F59-9398-F4D1B9EA2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C144A94F-101E-4D9B-AC52-AEF52F6B93A6}"/>
              </a:ext>
            </a:extLst>
          </p:cNvPr>
          <p:cNvCxnSpPr>
            <a:stCxn id="8" idx="2"/>
          </p:cNvCxnSpPr>
          <p:nvPr/>
        </p:nvCxnSpPr>
        <p:spPr>
          <a:xfrm>
            <a:off x="4274967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2CD64BA5-0D5F-48F6-9A9F-588A19FD9E8B}"/>
              </a:ext>
            </a:extLst>
          </p:cNvPr>
          <p:cNvSpPr/>
          <p:nvPr/>
        </p:nvSpPr>
        <p:spPr>
          <a:xfrm>
            <a:off x="3347864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FE731DD-105E-4B00-B649-5E8D727FA9E6}"/>
              </a:ext>
            </a:extLst>
          </p:cNvPr>
          <p:cNvSpPr txBox="1"/>
          <p:nvPr/>
        </p:nvSpPr>
        <p:spPr>
          <a:xfrm>
            <a:off x="3779912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D9BEAEDD-4392-4905-9157-2A085C88BC66}"/>
              </a:ext>
            </a:extLst>
          </p:cNvPr>
          <p:cNvSpPr/>
          <p:nvPr/>
        </p:nvSpPr>
        <p:spPr>
          <a:xfrm>
            <a:off x="5868144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6A24C0E-C80E-4F7C-90D7-9460CB5D6E64}"/>
              </a:ext>
            </a:extLst>
          </p:cNvPr>
          <p:cNvSpPr txBox="1"/>
          <p:nvPr/>
        </p:nvSpPr>
        <p:spPr>
          <a:xfrm>
            <a:off x="827584" y="357301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ワーキングツリー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0790BC2-1EF4-40D8-B8DF-38D1A0786242}"/>
              </a:ext>
            </a:extLst>
          </p:cNvPr>
          <p:cNvSpPr txBox="1"/>
          <p:nvPr/>
        </p:nvSpPr>
        <p:spPr>
          <a:xfrm>
            <a:off x="3491880" y="357301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インデックス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45E11AF-1DF4-4E9D-AC23-EAD776E7C702}"/>
              </a:ext>
            </a:extLst>
          </p:cNvPr>
          <p:cNvSpPr txBox="1"/>
          <p:nvPr/>
        </p:nvSpPr>
        <p:spPr>
          <a:xfrm>
            <a:off x="6012160" y="35730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リポジトリ</a:t>
            </a:r>
          </a:p>
        </p:txBody>
      </p:sp>
      <p:pic>
        <p:nvPicPr>
          <p:cNvPr id="18" name="Picture 2" descr="フォルダのイラスト">
            <a:extLst>
              <a:ext uri="{FF2B5EF4-FFF2-40B4-BE49-F238E27FC236}">
                <a16:creationId xmlns:a16="http://schemas.microsoft.com/office/drawing/2014/main" id="{6EB023BA-1ECD-4DC8-A287-570A08007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A2623070-6A44-4CAF-8AA4-B4599A98E99E}"/>
              </a:ext>
            </a:extLst>
          </p:cNvPr>
          <p:cNvCxnSpPr>
            <a:stCxn id="18" idx="2"/>
          </p:cNvCxnSpPr>
          <p:nvPr/>
        </p:nvCxnSpPr>
        <p:spPr>
          <a:xfrm>
            <a:off x="6723239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DDD8630-9EB2-4D31-ABAA-935C420F4B56}"/>
              </a:ext>
            </a:extLst>
          </p:cNvPr>
          <p:cNvSpPr txBox="1"/>
          <p:nvPr/>
        </p:nvSpPr>
        <p:spPr>
          <a:xfrm>
            <a:off x="6228184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DBCBC354-4A44-47E1-B116-52B25779BF41}"/>
              </a:ext>
            </a:extLst>
          </p:cNvPr>
          <p:cNvGrpSpPr/>
          <p:nvPr/>
        </p:nvGrpSpPr>
        <p:grpSpPr>
          <a:xfrm>
            <a:off x="1524417" y="5229200"/>
            <a:ext cx="360040" cy="504056"/>
            <a:chOff x="6012160" y="533182"/>
            <a:chExt cx="2160240" cy="3255858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42" name="四角形: 1 つの角を切り取る 41">
              <a:extLst>
                <a:ext uri="{FF2B5EF4-FFF2-40B4-BE49-F238E27FC236}">
                  <a16:creationId xmlns:a16="http://schemas.microsoft.com/office/drawing/2014/main" id="{A8C90FDC-CAC3-4EE4-A141-6CCA7FCC5341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43" name="二等辺三角形 42">
              <a:extLst>
                <a:ext uri="{FF2B5EF4-FFF2-40B4-BE49-F238E27FC236}">
                  <a16:creationId xmlns:a16="http://schemas.microsoft.com/office/drawing/2014/main" id="{66507B07-B69F-45E7-9D35-05A6B1866E33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C62F4252-7600-4E66-8C0B-18C6CBAF0AF3}"/>
              </a:ext>
            </a:extLst>
          </p:cNvPr>
          <p:cNvGrpSpPr/>
          <p:nvPr/>
        </p:nvGrpSpPr>
        <p:grpSpPr>
          <a:xfrm>
            <a:off x="4139952" y="5229200"/>
            <a:ext cx="360040" cy="504056"/>
            <a:chOff x="6012160" y="533182"/>
            <a:chExt cx="2160240" cy="3255858"/>
          </a:xfrm>
          <a:noFill/>
        </p:grpSpPr>
        <p:sp>
          <p:nvSpPr>
            <p:cNvPr id="45" name="四角形: 1 つの角を切り取る 44">
              <a:extLst>
                <a:ext uri="{FF2B5EF4-FFF2-40B4-BE49-F238E27FC236}">
                  <a16:creationId xmlns:a16="http://schemas.microsoft.com/office/drawing/2014/main" id="{13D99CD7-68B6-48B5-A1B9-0CC68F87BFE7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46" name="二等辺三角形 45">
              <a:extLst>
                <a:ext uri="{FF2B5EF4-FFF2-40B4-BE49-F238E27FC236}">
                  <a16:creationId xmlns:a16="http://schemas.microsoft.com/office/drawing/2014/main" id="{DDBB6479-CC27-4958-98D7-08A0A6095A21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8E69EB61-A6F1-46BC-ADF9-F9841D166EC2}"/>
              </a:ext>
            </a:extLst>
          </p:cNvPr>
          <p:cNvGrpSpPr/>
          <p:nvPr/>
        </p:nvGrpSpPr>
        <p:grpSpPr>
          <a:xfrm>
            <a:off x="6588224" y="5229200"/>
            <a:ext cx="360040" cy="504056"/>
            <a:chOff x="6012160" y="533182"/>
            <a:chExt cx="2160240" cy="3255858"/>
          </a:xfrm>
          <a:noFill/>
        </p:grpSpPr>
        <p:sp>
          <p:nvSpPr>
            <p:cNvPr id="48" name="四角形: 1 つの角を切り取る 47">
              <a:extLst>
                <a:ext uri="{FF2B5EF4-FFF2-40B4-BE49-F238E27FC236}">
                  <a16:creationId xmlns:a16="http://schemas.microsoft.com/office/drawing/2014/main" id="{C74F4D12-A880-4836-8D3A-91B451C2A1C3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49" name="二等辺三角形 48">
              <a:extLst>
                <a:ext uri="{FF2B5EF4-FFF2-40B4-BE49-F238E27FC236}">
                  <a16:creationId xmlns:a16="http://schemas.microsoft.com/office/drawing/2014/main" id="{B1EB47B4-AD13-4D54-B5A6-CF7BC939087C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DB0881D1-07F0-4613-8F1A-98F22A21D067}"/>
              </a:ext>
            </a:extLst>
          </p:cNvPr>
          <p:cNvSpPr txBox="1"/>
          <p:nvPr/>
        </p:nvSpPr>
        <p:spPr>
          <a:xfrm>
            <a:off x="467544" y="1268760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ファイルの修正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DD6C9429-B9D1-499C-B863-0ECFB5D0FA22}"/>
              </a:ext>
            </a:extLst>
          </p:cNvPr>
          <p:cNvSpPr txBox="1"/>
          <p:nvPr/>
        </p:nvSpPr>
        <p:spPr>
          <a:xfrm>
            <a:off x="971600" y="2276872"/>
            <a:ext cx="7340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ワーキングツリーが、インデックス、リポジトリと異なる状態になる</a:t>
            </a:r>
          </a:p>
        </p:txBody>
      </p:sp>
    </p:spTree>
    <p:extLst>
      <p:ext uri="{BB962C8B-B14F-4D97-AF65-F5344CB8AC3E}">
        <p14:creationId xmlns:p14="http://schemas.microsoft.com/office/powerpoint/2010/main" val="39957377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FBEE057-AEEB-4B80-AF1C-6BC19DC4FD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課題</a:t>
            </a:r>
            <a:r>
              <a:rPr kumimoji="1" lang="en-US" altLang="ja-JP"/>
              <a:t> </a:t>
            </a:r>
            <a:r>
              <a:rPr kumimoji="1" lang="en-US" altLang="ja-JP" dirty="0"/>
              <a:t>– Step 4</a:t>
            </a:r>
            <a:endParaRPr kumimoji="1" lang="ja-JP" altLang="en-US" dirty="0"/>
          </a:p>
        </p:txBody>
      </p:sp>
      <p:pic>
        <p:nvPicPr>
          <p:cNvPr id="3" name="Picture 2" descr="フォルダのイラスト">
            <a:extLst>
              <a:ext uri="{FF2B5EF4-FFF2-40B4-BE49-F238E27FC236}">
                <a16:creationId xmlns:a16="http://schemas.microsoft.com/office/drawing/2014/main" id="{39598154-8392-49E7-8641-0DCBDE0B3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D326727-0686-4E3A-A795-A2278EE89861}"/>
              </a:ext>
            </a:extLst>
          </p:cNvPr>
          <p:cNvCxnSpPr>
            <a:stCxn id="3" idx="2"/>
          </p:cNvCxnSpPr>
          <p:nvPr/>
        </p:nvCxnSpPr>
        <p:spPr>
          <a:xfrm>
            <a:off x="1682679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6BEC7D3A-8BDD-45DB-8C83-343755D1958D}"/>
              </a:ext>
            </a:extLst>
          </p:cNvPr>
          <p:cNvSpPr/>
          <p:nvPr/>
        </p:nvSpPr>
        <p:spPr>
          <a:xfrm>
            <a:off x="755576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0E48B9C-842E-4D10-8AC7-3AEE24156943}"/>
              </a:ext>
            </a:extLst>
          </p:cNvPr>
          <p:cNvSpPr txBox="1"/>
          <p:nvPr/>
        </p:nvSpPr>
        <p:spPr>
          <a:xfrm>
            <a:off x="1187624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7" name="Picture 2" descr="フォルダのイラスト">
            <a:extLst>
              <a:ext uri="{FF2B5EF4-FFF2-40B4-BE49-F238E27FC236}">
                <a16:creationId xmlns:a16="http://schemas.microsoft.com/office/drawing/2014/main" id="{FDD20CA3-EEB0-4CFC-B4E2-DA4F17414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9409EC37-6789-4AAD-82C5-06EF7254EC4F}"/>
              </a:ext>
            </a:extLst>
          </p:cNvPr>
          <p:cNvCxnSpPr>
            <a:stCxn id="7" idx="2"/>
          </p:cNvCxnSpPr>
          <p:nvPr/>
        </p:nvCxnSpPr>
        <p:spPr>
          <a:xfrm>
            <a:off x="4274967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A1DFED82-E936-47BB-A332-21F0B4A0CA0A}"/>
              </a:ext>
            </a:extLst>
          </p:cNvPr>
          <p:cNvSpPr/>
          <p:nvPr/>
        </p:nvSpPr>
        <p:spPr>
          <a:xfrm>
            <a:off x="3347864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0A12959-6611-48C6-AB32-9F9F43D62903}"/>
              </a:ext>
            </a:extLst>
          </p:cNvPr>
          <p:cNvSpPr txBox="1"/>
          <p:nvPr/>
        </p:nvSpPr>
        <p:spPr>
          <a:xfrm>
            <a:off x="3779912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CDC58CE9-C2CE-4AAE-9C83-3E9E3F054CE2}"/>
              </a:ext>
            </a:extLst>
          </p:cNvPr>
          <p:cNvSpPr/>
          <p:nvPr/>
        </p:nvSpPr>
        <p:spPr>
          <a:xfrm>
            <a:off x="5868144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587773C-90C7-4438-AD97-CBD5D72533E9}"/>
              </a:ext>
            </a:extLst>
          </p:cNvPr>
          <p:cNvSpPr txBox="1"/>
          <p:nvPr/>
        </p:nvSpPr>
        <p:spPr>
          <a:xfrm>
            <a:off x="827584" y="357301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ワーキングツリー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DA5C4E2-4037-4740-8464-2873E0271C51}"/>
              </a:ext>
            </a:extLst>
          </p:cNvPr>
          <p:cNvSpPr txBox="1"/>
          <p:nvPr/>
        </p:nvSpPr>
        <p:spPr>
          <a:xfrm>
            <a:off x="3491880" y="357301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インデックス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163FD5A-3686-4479-B419-830B373ECB9E}"/>
              </a:ext>
            </a:extLst>
          </p:cNvPr>
          <p:cNvSpPr txBox="1"/>
          <p:nvPr/>
        </p:nvSpPr>
        <p:spPr>
          <a:xfrm>
            <a:off x="6012160" y="35730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リポジトリ</a:t>
            </a:r>
          </a:p>
        </p:txBody>
      </p:sp>
      <p:pic>
        <p:nvPicPr>
          <p:cNvPr id="15" name="Picture 2" descr="フォルダのイラスト">
            <a:extLst>
              <a:ext uri="{FF2B5EF4-FFF2-40B4-BE49-F238E27FC236}">
                <a16:creationId xmlns:a16="http://schemas.microsoft.com/office/drawing/2014/main" id="{667C0838-94BE-45D2-ABB4-A6235EB7E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7278C37F-5932-4C9F-AB90-5C37DCC9005A}"/>
              </a:ext>
            </a:extLst>
          </p:cNvPr>
          <p:cNvCxnSpPr>
            <a:stCxn id="15" idx="2"/>
          </p:cNvCxnSpPr>
          <p:nvPr/>
        </p:nvCxnSpPr>
        <p:spPr>
          <a:xfrm>
            <a:off x="6723239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C70CE35-69BF-4B5F-85E6-6B09685AF4AA}"/>
              </a:ext>
            </a:extLst>
          </p:cNvPr>
          <p:cNvSpPr txBox="1"/>
          <p:nvPr/>
        </p:nvSpPr>
        <p:spPr>
          <a:xfrm>
            <a:off x="6228184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04FC1B09-7C15-4D09-84CE-572058F87D46}"/>
              </a:ext>
            </a:extLst>
          </p:cNvPr>
          <p:cNvGrpSpPr/>
          <p:nvPr/>
        </p:nvGrpSpPr>
        <p:grpSpPr>
          <a:xfrm>
            <a:off x="1524417" y="5229200"/>
            <a:ext cx="360040" cy="504056"/>
            <a:chOff x="6012160" y="533182"/>
            <a:chExt cx="2160240" cy="3255858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9" name="四角形: 1 つの角を切り取る 18">
              <a:extLst>
                <a:ext uri="{FF2B5EF4-FFF2-40B4-BE49-F238E27FC236}">
                  <a16:creationId xmlns:a16="http://schemas.microsoft.com/office/drawing/2014/main" id="{0521E33F-8E17-43EA-B15E-95C60098BC31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20" name="二等辺三角形 19">
              <a:extLst>
                <a:ext uri="{FF2B5EF4-FFF2-40B4-BE49-F238E27FC236}">
                  <a16:creationId xmlns:a16="http://schemas.microsoft.com/office/drawing/2014/main" id="{54EFE38B-BBBF-403B-8BDD-78A264185EA4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4063AC19-58DD-4BE1-AAE6-53C9FF5F3C9E}"/>
              </a:ext>
            </a:extLst>
          </p:cNvPr>
          <p:cNvGrpSpPr/>
          <p:nvPr/>
        </p:nvGrpSpPr>
        <p:grpSpPr>
          <a:xfrm>
            <a:off x="6588224" y="5229200"/>
            <a:ext cx="360040" cy="504056"/>
            <a:chOff x="6012160" y="533182"/>
            <a:chExt cx="2160240" cy="3255858"/>
          </a:xfrm>
          <a:noFill/>
        </p:grpSpPr>
        <p:sp>
          <p:nvSpPr>
            <p:cNvPr id="25" name="四角形: 1 つの角を切り取る 24">
              <a:extLst>
                <a:ext uri="{FF2B5EF4-FFF2-40B4-BE49-F238E27FC236}">
                  <a16:creationId xmlns:a16="http://schemas.microsoft.com/office/drawing/2014/main" id="{AA132918-703B-4901-B9F0-01CF058A4829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26" name="二等辺三角形 25">
              <a:extLst>
                <a:ext uri="{FF2B5EF4-FFF2-40B4-BE49-F238E27FC236}">
                  <a16:creationId xmlns:a16="http://schemas.microsoft.com/office/drawing/2014/main" id="{D5EAF65B-C907-4AC7-A7E6-623E581E62A4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08483F86-316A-419E-B093-F2FEB5DACFF4}"/>
              </a:ext>
            </a:extLst>
          </p:cNvPr>
          <p:cNvGrpSpPr/>
          <p:nvPr/>
        </p:nvGrpSpPr>
        <p:grpSpPr>
          <a:xfrm>
            <a:off x="4067944" y="5229200"/>
            <a:ext cx="360040" cy="504056"/>
            <a:chOff x="6012160" y="533182"/>
            <a:chExt cx="2160240" cy="3255858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28" name="四角形: 1 つの角を切り取る 27">
              <a:extLst>
                <a:ext uri="{FF2B5EF4-FFF2-40B4-BE49-F238E27FC236}">
                  <a16:creationId xmlns:a16="http://schemas.microsoft.com/office/drawing/2014/main" id="{6A9BD9C6-C4AA-40C0-BEA6-53CEEBEF4238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29" name="二等辺三角形 28">
              <a:extLst>
                <a:ext uri="{FF2B5EF4-FFF2-40B4-BE49-F238E27FC236}">
                  <a16:creationId xmlns:a16="http://schemas.microsoft.com/office/drawing/2014/main" id="{EB87962B-A0FC-4724-B518-1D8D32602337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0" name="矢印: 右 29">
            <a:extLst>
              <a:ext uri="{FF2B5EF4-FFF2-40B4-BE49-F238E27FC236}">
                <a16:creationId xmlns:a16="http://schemas.microsoft.com/office/drawing/2014/main" id="{316B8111-EF31-442C-935E-4BA6D58F378B}"/>
              </a:ext>
            </a:extLst>
          </p:cNvPr>
          <p:cNvSpPr/>
          <p:nvPr/>
        </p:nvSpPr>
        <p:spPr>
          <a:xfrm>
            <a:off x="2195736" y="5229200"/>
            <a:ext cx="1728192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74F535AD-4581-4201-8540-874C9A745147}"/>
              </a:ext>
            </a:extLst>
          </p:cNvPr>
          <p:cNvSpPr txBox="1"/>
          <p:nvPr/>
        </p:nvSpPr>
        <p:spPr>
          <a:xfrm>
            <a:off x="251520" y="1268760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インデックスへの追加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EEF009D9-A024-4640-96AB-33CAA20DFB13}"/>
              </a:ext>
            </a:extLst>
          </p:cNvPr>
          <p:cNvSpPr txBox="1"/>
          <p:nvPr/>
        </p:nvSpPr>
        <p:spPr>
          <a:xfrm>
            <a:off x="827584" y="1988840"/>
            <a:ext cx="258275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add </a:t>
            </a:r>
            <a:r>
              <a:rPr lang="en-US" altLang="ja-JP" sz="2000" dirty="0">
                <a:latin typeface="Consolas" panose="020B0609020204030204" pitchFamily="49" charset="0"/>
              </a:rPr>
              <a:t>README.md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0359CC58-4C20-4F3A-B0D2-5ADFBEE1F25B}"/>
              </a:ext>
            </a:extLst>
          </p:cNvPr>
          <p:cNvSpPr txBox="1"/>
          <p:nvPr/>
        </p:nvSpPr>
        <p:spPr>
          <a:xfrm>
            <a:off x="1475656" y="2708920"/>
            <a:ext cx="5955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ワーキングツリーからインデックスにファイルをコピー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390414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5875366-09CE-4E74-8ED8-0F2F27B536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 – Step 4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B156C50-CFE8-4684-80F7-4099CC2B091D}"/>
              </a:ext>
            </a:extLst>
          </p:cNvPr>
          <p:cNvSpPr txBox="1"/>
          <p:nvPr/>
        </p:nvSpPr>
        <p:spPr>
          <a:xfrm>
            <a:off x="251520" y="126876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コミット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6105CC4-56F5-4DD1-9E07-C044F9B6744A}"/>
              </a:ext>
            </a:extLst>
          </p:cNvPr>
          <p:cNvSpPr txBox="1"/>
          <p:nvPr/>
        </p:nvSpPr>
        <p:spPr>
          <a:xfrm>
            <a:off x="827584" y="1988840"/>
            <a:ext cx="4416594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commit -m "adds new line"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21A9F0A-D033-4EB5-BF43-8E1BD9133F07}"/>
              </a:ext>
            </a:extLst>
          </p:cNvPr>
          <p:cNvSpPr txBox="1"/>
          <p:nvPr/>
        </p:nvSpPr>
        <p:spPr>
          <a:xfrm>
            <a:off x="1475656" y="2708920"/>
            <a:ext cx="7109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インデックスの状態をそのまま「歴史」としてリポジトリに保存</a:t>
            </a:r>
            <a:endParaRPr lang="en-US" altLang="ja-JP" dirty="0"/>
          </a:p>
        </p:txBody>
      </p:sp>
      <p:pic>
        <p:nvPicPr>
          <p:cNvPr id="6" name="Picture 2" descr="フォルダのイラスト">
            <a:extLst>
              <a:ext uri="{FF2B5EF4-FFF2-40B4-BE49-F238E27FC236}">
                <a16:creationId xmlns:a16="http://schemas.microsoft.com/office/drawing/2014/main" id="{C18F47EE-A597-42FB-978F-82E762C77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4A148E83-F815-4668-B0F5-C4FAF9219967}"/>
              </a:ext>
            </a:extLst>
          </p:cNvPr>
          <p:cNvCxnSpPr>
            <a:stCxn id="6" idx="2"/>
          </p:cNvCxnSpPr>
          <p:nvPr/>
        </p:nvCxnSpPr>
        <p:spPr>
          <a:xfrm>
            <a:off x="1682679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11A61F2-5131-499E-9613-FEEB766FC6BE}"/>
              </a:ext>
            </a:extLst>
          </p:cNvPr>
          <p:cNvSpPr/>
          <p:nvPr/>
        </p:nvSpPr>
        <p:spPr>
          <a:xfrm>
            <a:off x="755576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03E3924-AA28-4142-909C-11DF89C5F89C}"/>
              </a:ext>
            </a:extLst>
          </p:cNvPr>
          <p:cNvSpPr txBox="1"/>
          <p:nvPr/>
        </p:nvSpPr>
        <p:spPr>
          <a:xfrm>
            <a:off x="1187624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10" name="Picture 2" descr="フォルダのイラスト">
            <a:extLst>
              <a:ext uri="{FF2B5EF4-FFF2-40B4-BE49-F238E27FC236}">
                <a16:creationId xmlns:a16="http://schemas.microsoft.com/office/drawing/2014/main" id="{66807E6D-EB26-42F9-BFBD-99793E3D0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279665DA-2B49-4845-A8E3-ED71F3CA351D}"/>
              </a:ext>
            </a:extLst>
          </p:cNvPr>
          <p:cNvCxnSpPr>
            <a:stCxn id="10" idx="2"/>
          </p:cNvCxnSpPr>
          <p:nvPr/>
        </p:nvCxnSpPr>
        <p:spPr>
          <a:xfrm>
            <a:off x="4274967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F3CEEE2F-89AF-4C8B-9F83-D3AA27F39FDC}"/>
              </a:ext>
            </a:extLst>
          </p:cNvPr>
          <p:cNvSpPr/>
          <p:nvPr/>
        </p:nvSpPr>
        <p:spPr>
          <a:xfrm>
            <a:off x="3347864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1398EF3-0E66-462A-91E9-AD24638ADF5C}"/>
              </a:ext>
            </a:extLst>
          </p:cNvPr>
          <p:cNvSpPr txBox="1"/>
          <p:nvPr/>
        </p:nvSpPr>
        <p:spPr>
          <a:xfrm>
            <a:off x="3779912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CF469F5E-14D6-40AB-9A85-DD8169AA58EB}"/>
              </a:ext>
            </a:extLst>
          </p:cNvPr>
          <p:cNvSpPr/>
          <p:nvPr/>
        </p:nvSpPr>
        <p:spPr>
          <a:xfrm>
            <a:off x="5868144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498CD7D-36A5-4958-94D3-235A3273087E}"/>
              </a:ext>
            </a:extLst>
          </p:cNvPr>
          <p:cNvSpPr txBox="1"/>
          <p:nvPr/>
        </p:nvSpPr>
        <p:spPr>
          <a:xfrm>
            <a:off x="827584" y="357301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ワーキングツリー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D796AAB-4FC5-42F8-8EF3-1CD68F398886}"/>
              </a:ext>
            </a:extLst>
          </p:cNvPr>
          <p:cNvSpPr txBox="1"/>
          <p:nvPr/>
        </p:nvSpPr>
        <p:spPr>
          <a:xfrm>
            <a:off x="3491880" y="357301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インデックス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3A8DF04-1593-4524-8E4D-43ABDE886459}"/>
              </a:ext>
            </a:extLst>
          </p:cNvPr>
          <p:cNvSpPr txBox="1"/>
          <p:nvPr/>
        </p:nvSpPr>
        <p:spPr>
          <a:xfrm>
            <a:off x="6012160" y="35730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リポジトリ</a:t>
            </a:r>
          </a:p>
        </p:txBody>
      </p:sp>
      <p:pic>
        <p:nvPicPr>
          <p:cNvPr id="18" name="Picture 2" descr="フォルダのイラスト">
            <a:extLst>
              <a:ext uri="{FF2B5EF4-FFF2-40B4-BE49-F238E27FC236}">
                <a16:creationId xmlns:a16="http://schemas.microsoft.com/office/drawing/2014/main" id="{D3932F9B-767F-41ED-B764-1D608DF55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953D18E3-14D4-4947-A846-BB52251A54B4}"/>
              </a:ext>
            </a:extLst>
          </p:cNvPr>
          <p:cNvCxnSpPr>
            <a:stCxn id="18" idx="2"/>
          </p:cNvCxnSpPr>
          <p:nvPr/>
        </p:nvCxnSpPr>
        <p:spPr>
          <a:xfrm>
            <a:off x="6723239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C71A927-BCCC-454E-B800-117C1BDEDAAE}"/>
              </a:ext>
            </a:extLst>
          </p:cNvPr>
          <p:cNvSpPr txBox="1"/>
          <p:nvPr/>
        </p:nvSpPr>
        <p:spPr>
          <a:xfrm>
            <a:off x="6228184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7E196D98-0777-4087-9DB1-8CDEBA1C62AF}"/>
              </a:ext>
            </a:extLst>
          </p:cNvPr>
          <p:cNvGrpSpPr/>
          <p:nvPr/>
        </p:nvGrpSpPr>
        <p:grpSpPr>
          <a:xfrm>
            <a:off x="1524417" y="5229200"/>
            <a:ext cx="360040" cy="504056"/>
            <a:chOff x="6012160" y="533182"/>
            <a:chExt cx="2160240" cy="3255858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22" name="四角形: 1 つの角を切り取る 21">
              <a:extLst>
                <a:ext uri="{FF2B5EF4-FFF2-40B4-BE49-F238E27FC236}">
                  <a16:creationId xmlns:a16="http://schemas.microsoft.com/office/drawing/2014/main" id="{F1BEF2D8-2A01-4ECF-9E0F-39F961FDBBFD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23" name="二等辺三角形 22">
              <a:extLst>
                <a:ext uri="{FF2B5EF4-FFF2-40B4-BE49-F238E27FC236}">
                  <a16:creationId xmlns:a16="http://schemas.microsoft.com/office/drawing/2014/main" id="{F9F5F4F3-9C3A-4417-8FAD-C7DCF46C17B9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B8E1C798-B221-4A13-938C-758B8FF539CC}"/>
              </a:ext>
            </a:extLst>
          </p:cNvPr>
          <p:cNvGrpSpPr/>
          <p:nvPr/>
        </p:nvGrpSpPr>
        <p:grpSpPr>
          <a:xfrm>
            <a:off x="4067944" y="5229200"/>
            <a:ext cx="360040" cy="504056"/>
            <a:chOff x="6012160" y="533182"/>
            <a:chExt cx="2160240" cy="3255858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28" name="四角形: 1 つの角を切り取る 27">
              <a:extLst>
                <a:ext uri="{FF2B5EF4-FFF2-40B4-BE49-F238E27FC236}">
                  <a16:creationId xmlns:a16="http://schemas.microsoft.com/office/drawing/2014/main" id="{61B092B3-00FF-44F5-85EB-565CC6DDA702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29" name="二等辺三角形 28">
              <a:extLst>
                <a:ext uri="{FF2B5EF4-FFF2-40B4-BE49-F238E27FC236}">
                  <a16:creationId xmlns:a16="http://schemas.microsoft.com/office/drawing/2014/main" id="{D9D25E43-2612-4D5A-9C38-9E592E76B7BF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0" name="矢印: 右 29">
            <a:extLst>
              <a:ext uri="{FF2B5EF4-FFF2-40B4-BE49-F238E27FC236}">
                <a16:creationId xmlns:a16="http://schemas.microsoft.com/office/drawing/2014/main" id="{67267D14-5FB5-49A1-9CC5-0DBAA7321E19}"/>
              </a:ext>
            </a:extLst>
          </p:cNvPr>
          <p:cNvSpPr/>
          <p:nvPr/>
        </p:nvSpPr>
        <p:spPr>
          <a:xfrm>
            <a:off x="4644008" y="5229200"/>
            <a:ext cx="1728192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10457704-9F25-48CF-9905-94A48773E8EF}"/>
              </a:ext>
            </a:extLst>
          </p:cNvPr>
          <p:cNvGrpSpPr/>
          <p:nvPr/>
        </p:nvGrpSpPr>
        <p:grpSpPr>
          <a:xfrm>
            <a:off x="6588224" y="5229200"/>
            <a:ext cx="360040" cy="504056"/>
            <a:chOff x="6012160" y="533182"/>
            <a:chExt cx="2160240" cy="3255858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2" name="四角形: 1 つの角を切り取る 31">
              <a:extLst>
                <a:ext uri="{FF2B5EF4-FFF2-40B4-BE49-F238E27FC236}">
                  <a16:creationId xmlns:a16="http://schemas.microsoft.com/office/drawing/2014/main" id="{26C11C34-0967-4FD2-8EA4-4A6EC5F55062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33" name="二等辺三角形 32">
              <a:extLst>
                <a:ext uri="{FF2B5EF4-FFF2-40B4-BE49-F238E27FC236}">
                  <a16:creationId xmlns:a16="http://schemas.microsoft.com/office/drawing/2014/main" id="{29197C46-B8A5-4EC1-A275-0881019DA376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661102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FE0000C-42D2-43BE-BF5B-34490787D7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 – Step 5 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32C1CD3-D998-493F-9F1B-83B064EC74B8}"/>
              </a:ext>
            </a:extLst>
          </p:cNvPr>
          <p:cNvSpPr txBox="1"/>
          <p:nvPr/>
        </p:nvSpPr>
        <p:spPr>
          <a:xfrm>
            <a:off x="467544" y="1268760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ファイルの修正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50362A9-AFB1-4DD1-A680-D7D3F701893B}"/>
              </a:ext>
            </a:extLst>
          </p:cNvPr>
          <p:cNvSpPr txBox="1"/>
          <p:nvPr/>
        </p:nvSpPr>
        <p:spPr>
          <a:xfrm>
            <a:off x="971600" y="2276872"/>
            <a:ext cx="7340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ワーキングツリーが、インデックス、リポジトリと異なる状態になる</a:t>
            </a:r>
          </a:p>
        </p:txBody>
      </p:sp>
      <p:pic>
        <p:nvPicPr>
          <p:cNvPr id="5" name="Picture 2" descr="フォルダのイラスト">
            <a:extLst>
              <a:ext uri="{FF2B5EF4-FFF2-40B4-BE49-F238E27FC236}">
                <a16:creationId xmlns:a16="http://schemas.microsoft.com/office/drawing/2014/main" id="{E196D40E-F4D1-4605-9C6A-A927D0259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51CD0D4-EC71-47FC-B31F-DB41FBDC12E0}"/>
              </a:ext>
            </a:extLst>
          </p:cNvPr>
          <p:cNvCxnSpPr>
            <a:stCxn id="5" idx="2"/>
          </p:cNvCxnSpPr>
          <p:nvPr/>
        </p:nvCxnSpPr>
        <p:spPr>
          <a:xfrm>
            <a:off x="1682679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D7A35104-F8E0-44F5-8C0B-9F65D7BC5411}"/>
              </a:ext>
            </a:extLst>
          </p:cNvPr>
          <p:cNvSpPr/>
          <p:nvPr/>
        </p:nvSpPr>
        <p:spPr>
          <a:xfrm>
            <a:off x="755576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CCF5686-4B79-4247-9D6D-21B8330530D2}"/>
              </a:ext>
            </a:extLst>
          </p:cNvPr>
          <p:cNvSpPr txBox="1"/>
          <p:nvPr/>
        </p:nvSpPr>
        <p:spPr>
          <a:xfrm>
            <a:off x="1187624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9" name="Picture 2" descr="フォルダのイラスト">
            <a:extLst>
              <a:ext uri="{FF2B5EF4-FFF2-40B4-BE49-F238E27FC236}">
                <a16:creationId xmlns:a16="http://schemas.microsoft.com/office/drawing/2014/main" id="{1E0D3467-DC9E-49CA-A4F0-E0D828BCF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40737170-3E36-4FE6-AFA3-9B98EFF18C07}"/>
              </a:ext>
            </a:extLst>
          </p:cNvPr>
          <p:cNvCxnSpPr>
            <a:stCxn id="9" idx="2"/>
          </p:cNvCxnSpPr>
          <p:nvPr/>
        </p:nvCxnSpPr>
        <p:spPr>
          <a:xfrm>
            <a:off x="4274967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63135FD6-731E-49E1-9448-C00CC0ED6D0F}"/>
              </a:ext>
            </a:extLst>
          </p:cNvPr>
          <p:cNvSpPr/>
          <p:nvPr/>
        </p:nvSpPr>
        <p:spPr>
          <a:xfrm>
            <a:off x="3347864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848BC7F-4574-4B1E-8FCD-62E5B9AB1062}"/>
              </a:ext>
            </a:extLst>
          </p:cNvPr>
          <p:cNvSpPr txBox="1"/>
          <p:nvPr/>
        </p:nvSpPr>
        <p:spPr>
          <a:xfrm>
            <a:off x="3779912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A8F5555F-DFBC-4222-AEFF-9F8DCE2A354A}"/>
              </a:ext>
            </a:extLst>
          </p:cNvPr>
          <p:cNvSpPr/>
          <p:nvPr/>
        </p:nvSpPr>
        <p:spPr>
          <a:xfrm>
            <a:off x="5868144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678504A-132A-4E0E-B84B-18F8F53297A2}"/>
              </a:ext>
            </a:extLst>
          </p:cNvPr>
          <p:cNvSpPr txBox="1"/>
          <p:nvPr/>
        </p:nvSpPr>
        <p:spPr>
          <a:xfrm>
            <a:off x="827584" y="357301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ワーキングツリー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391C37-28DF-4505-8726-DBEF05DEDFE0}"/>
              </a:ext>
            </a:extLst>
          </p:cNvPr>
          <p:cNvSpPr txBox="1"/>
          <p:nvPr/>
        </p:nvSpPr>
        <p:spPr>
          <a:xfrm>
            <a:off x="3491880" y="357301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インデックス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BD4B09D-25A3-423B-8968-4497FF6CD18E}"/>
              </a:ext>
            </a:extLst>
          </p:cNvPr>
          <p:cNvSpPr txBox="1"/>
          <p:nvPr/>
        </p:nvSpPr>
        <p:spPr>
          <a:xfrm>
            <a:off x="6012160" y="35730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リポジトリ</a:t>
            </a:r>
          </a:p>
        </p:txBody>
      </p:sp>
      <p:pic>
        <p:nvPicPr>
          <p:cNvPr id="17" name="Picture 2" descr="フォルダのイラスト">
            <a:extLst>
              <a:ext uri="{FF2B5EF4-FFF2-40B4-BE49-F238E27FC236}">
                <a16:creationId xmlns:a16="http://schemas.microsoft.com/office/drawing/2014/main" id="{13AC27AA-12D9-4EE0-88B7-82166B2ED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343E6DEA-7700-4F24-A8A4-251686685FE2}"/>
              </a:ext>
            </a:extLst>
          </p:cNvPr>
          <p:cNvCxnSpPr>
            <a:stCxn id="17" idx="2"/>
          </p:cNvCxnSpPr>
          <p:nvPr/>
        </p:nvCxnSpPr>
        <p:spPr>
          <a:xfrm>
            <a:off x="6723239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181E3E9-FFE2-4161-B272-A2A6100F8BF5}"/>
              </a:ext>
            </a:extLst>
          </p:cNvPr>
          <p:cNvSpPr txBox="1"/>
          <p:nvPr/>
        </p:nvSpPr>
        <p:spPr>
          <a:xfrm>
            <a:off x="6228184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7314E9C8-0310-46F6-B21F-45CB0C1F985F}"/>
              </a:ext>
            </a:extLst>
          </p:cNvPr>
          <p:cNvGrpSpPr/>
          <p:nvPr/>
        </p:nvGrpSpPr>
        <p:grpSpPr>
          <a:xfrm>
            <a:off x="1524417" y="5229200"/>
            <a:ext cx="360040" cy="504056"/>
            <a:chOff x="6012160" y="533182"/>
            <a:chExt cx="2160240" cy="3255858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21" name="四角形: 1 つの角を切り取る 20">
              <a:extLst>
                <a:ext uri="{FF2B5EF4-FFF2-40B4-BE49-F238E27FC236}">
                  <a16:creationId xmlns:a16="http://schemas.microsoft.com/office/drawing/2014/main" id="{10884D51-07EA-455B-95D0-E06D3393EB29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22" name="二等辺三角形 21">
              <a:extLst>
                <a:ext uri="{FF2B5EF4-FFF2-40B4-BE49-F238E27FC236}">
                  <a16:creationId xmlns:a16="http://schemas.microsoft.com/office/drawing/2014/main" id="{2268BAE3-F685-45B9-83CB-8E7A2259447F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9FDCB1BE-600D-451B-B1A4-4394A7E483F7}"/>
              </a:ext>
            </a:extLst>
          </p:cNvPr>
          <p:cNvGrpSpPr/>
          <p:nvPr/>
        </p:nvGrpSpPr>
        <p:grpSpPr>
          <a:xfrm>
            <a:off x="4067944" y="5229200"/>
            <a:ext cx="360040" cy="504056"/>
            <a:chOff x="6012160" y="533182"/>
            <a:chExt cx="2160240" cy="3255858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24" name="四角形: 1 つの角を切り取る 23">
              <a:extLst>
                <a:ext uri="{FF2B5EF4-FFF2-40B4-BE49-F238E27FC236}">
                  <a16:creationId xmlns:a16="http://schemas.microsoft.com/office/drawing/2014/main" id="{A2192155-48EA-42D9-989B-CDDBBAA56581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25" name="二等辺三角形 24">
              <a:extLst>
                <a:ext uri="{FF2B5EF4-FFF2-40B4-BE49-F238E27FC236}">
                  <a16:creationId xmlns:a16="http://schemas.microsoft.com/office/drawing/2014/main" id="{58FFD82E-9607-4894-B68B-84BD047B33DE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5A673B0B-B794-4C3A-85CA-E306678CCA08}"/>
              </a:ext>
            </a:extLst>
          </p:cNvPr>
          <p:cNvGrpSpPr/>
          <p:nvPr/>
        </p:nvGrpSpPr>
        <p:grpSpPr>
          <a:xfrm>
            <a:off x="6588224" y="5229200"/>
            <a:ext cx="360040" cy="504056"/>
            <a:chOff x="6012160" y="533182"/>
            <a:chExt cx="2160240" cy="3255858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28" name="四角形: 1 つの角を切り取る 27">
              <a:extLst>
                <a:ext uri="{FF2B5EF4-FFF2-40B4-BE49-F238E27FC236}">
                  <a16:creationId xmlns:a16="http://schemas.microsoft.com/office/drawing/2014/main" id="{1A54BB5D-4A15-4FCF-8311-955A92B3429C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29" name="二等辺三角形 28">
              <a:extLst>
                <a:ext uri="{FF2B5EF4-FFF2-40B4-BE49-F238E27FC236}">
                  <a16:creationId xmlns:a16="http://schemas.microsoft.com/office/drawing/2014/main" id="{338963A9-13D2-4E75-9F84-E5C685E03F42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43891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C666343-6A55-43B7-99F0-F1E5BAD76F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 – Step 5 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565477B-9D3D-42EB-906E-B0A5627F9CB2}"/>
              </a:ext>
            </a:extLst>
          </p:cNvPr>
          <p:cNvSpPr txBox="1"/>
          <p:nvPr/>
        </p:nvSpPr>
        <p:spPr>
          <a:xfrm>
            <a:off x="251520" y="1268760"/>
            <a:ext cx="4083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コミット</a:t>
            </a:r>
            <a:r>
              <a:rPr lang="en-US" altLang="ja-JP" sz="2400" dirty="0"/>
              <a:t>(</a:t>
            </a:r>
            <a:r>
              <a:rPr lang="ja-JP" altLang="en-US" sz="2400" dirty="0"/>
              <a:t>自動ステージング</a:t>
            </a:r>
            <a:r>
              <a:rPr lang="en-US" altLang="ja-JP" sz="2400" dirty="0"/>
              <a:t>)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95C71E4-C9C1-450F-8C08-1674349AEA35}"/>
              </a:ext>
            </a:extLst>
          </p:cNvPr>
          <p:cNvSpPr txBox="1"/>
          <p:nvPr/>
        </p:nvSpPr>
        <p:spPr>
          <a:xfrm>
            <a:off x="827584" y="1988840"/>
            <a:ext cx="512191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commit -am "modifies README.md"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pic>
        <p:nvPicPr>
          <p:cNvPr id="5" name="Picture 2" descr="フォルダのイラスト">
            <a:extLst>
              <a:ext uri="{FF2B5EF4-FFF2-40B4-BE49-F238E27FC236}">
                <a16:creationId xmlns:a16="http://schemas.microsoft.com/office/drawing/2014/main" id="{B8A6B9D1-B364-4492-96CD-7146AE7C7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27926F24-078B-4203-A9B1-1835D0AD793A}"/>
              </a:ext>
            </a:extLst>
          </p:cNvPr>
          <p:cNvCxnSpPr>
            <a:stCxn id="5" idx="2"/>
          </p:cNvCxnSpPr>
          <p:nvPr/>
        </p:nvCxnSpPr>
        <p:spPr>
          <a:xfrm>
            <a:off x="1682679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C6341306-9AFD-40E5-A5FE-61945BD7331C}"/>
              </a:ext>
            </a:extLst>
          </p:cNvPr>
          <p:cNvSpPr/>
          <p:nvPr/>
        </p:nvSpPr>
        <p:spPr>
          <a:xfrm>
            <a:off x="755576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3DFAE34-7FE3-4EA2-B310-439DE583F3AB}"/>
              </a:ext>
            </a:extLst>
          </p:cNvPr>
          <p:cNvSpPr txBox="1"/>
          <p:nvPr/>
        </p:nvSpPr>
        <p:spPr>
          <a:xfrm>
            <a:off x="1187624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9" name="Picture 2" descr="フォルダのイラスト">
            <a:extLst>
              <a:ext uri="{FF2B5EF4-FFF2-40B4-BE49-F238E27FC236}">
                <a16:creationId xmlns:a16="http://schemas.microsoft.com/office/drawing/2014/main" id="{0C5F8A3D-60FE-4C9A-8791-E535F5805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8E44E8C-35BF-4D57-A0B6-A7AE8C4A313F}"/>
              </a:ext>
            </a:extLst>
          </p:cNvPr>
          <p:cNvCxnSpPr>
            <a:stCxn id="9" idx="2"/>
          </p:cNvCxnSpPr>
          <p:nvPr/>
        </p:nvCxnSpPr>
        <p:spPr>
          <a:xfrm>
            <a:off x="4274967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3EC5D0D0-AFA6-49A5-AD38-577C7EAF2A23}"/>
              </a:ext>
            </a:extLst>
          </p:cNvPr>
          <p:cNvSpPr/>
          <p:nvPr/>
        </p:nvSpPr>
        <p:spPr>
          <a:xfrm>
            <a:off x="3347864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89A33D7-FFC7-453F-B5B0-5E0E5935C699}"/>
              </a:ext>
            </a:extLst>
          </p:cNvPr>
          <p:cNvSpPr txBox="1"/>
          <p:nvPr/>
        </p:nvSpPr>
        <p:spPr>
          <a:xfrm>
            <a:off x="3779912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6517F868-63A3-4256-98DC-58E37CF7B2C7}"/>
              </a:ext>
            </a:extLst>
          </p:cNvPr>
          <p:cNvSpPr/>
          <p:nvPr/>
        </p:nvSpPr>
        <p:spPr>
          <a:xfrm>
            <a:off x="5868144" y="4077072"/>
            <a:ext cx="2232248" cy="230425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4ED82CE-A575-4F0E-8FC7-FC32E8CAFC33}"/>
              </a:ext>
            </a:extLst>
          </p:cNvPr>
          <p:cNvSpPr txBox="1"/>
          <p:nvPr/>
        </p:nvSpPr>
        <p:spPr>
          <a:xfrm>
            <a:off x="827584" y="357301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ワーキングツリー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24810A5-CF4C-4DEE-ABF0-10ACE6C8F78C}"/>
              </a:ext>
            </a:extLst>
          </p:cNvPr>
          <p:cNvSpPr txBox="1"/>
          <p:nvPr/>
        </p:nvSpPr>
        <p:spPr>
          <a:xfrm>
            <a:off x="3491880" y="357301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インデックス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610FB58-86A8-4A80-A3A8-8DED800C6521}"/>
              </a:ext>
            </a:extLst>
          </p:cNvPr>
          <p:cNvSpPr txBox="1"/>
          <p:nvPr/>
        </p:nvSpPr>
        <p:spPr>
          <a:xfrm>
            <a:off x="6012160" y="35730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リポジトリ</a:t>
            </a:r>
          </a:p>
        </p:txBody>
      </p:sp>
      <p:pic>
        <p:nvPicPr>
          <p:cNvPr id="17" name="Picture 2" descr="フォルダのイラスト">
            <a:extLst>
              <a:ext uri="{FF2B5EF4-FFF2-40B4-BE49-F238E27FC236}">
                <a16:creationId xmlns:a16="http://schemas.microsoft.com/office/drawing/2014/main" id="{2E92E19B-E50C-4F55-8876-4EF2BC57C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443711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12983375-959E-4977-A39A-08AEE4090ED5}"/>
              </a:ext>
            </a:extLst>
          </p:cNvPr>
          <p:cNvCxnSpPr>
            <a:stCxn id="17" idx="2"/>
          </p:cNvCxnSpPr>
          <p:nvPr/>
        </p:nvCxnSpPr>
        <p:spPr>
          <a:xfrm>
            <a:off x="6723239" y="5025102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88E2060-0890-45EF-9D31-CE04C55B9551}"/>
              </a:ext>
            </a:extLst>
          </p:cNvPr>
          <p:cNvSpPr txBox="1"/>
          <p:nvPr/>
        </p:nvSpPr>
        <p:spPr>
          <a:xfrm>
            <a:off x="6228184" y="573325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E822DA4D-BD91-47C2-91CB-66B9A7442063}"/>
              </a:ext>
            </a:extLst>
          </p:cNvPr>
          <p:cNvGrpSpPr/>
          <p:nvPr/>
        </p:nvGrpSpPr>
        <p:grpSpPr>
          <a:xfrm>
            <a:off x="1524417" y="5229200"/>
            <a:ext cx="360040" cy="504056"/>
            <a:chOff x="6012160" y="533182"/>
            <a:chExt cx="2160240" cy="3255858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21" name="四角形: 1 つの角を切り取る 20">
              <a:extLst>
                <a:ext uri="{FF2B5EF4-FFF2-40B4-BE49-F238E27FC236}">
                  <a16:creationId xmlns:a16="http://schemas.microsoft.com/office/drawing/2014/main" id="{88AD1BDD-9F35-4C9E-8E53-314B1A481CCD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22" name="二等辺三角形 21">
              <a:extLst>
                <a:ext uri="{FF2B5EF4-FFF2-40B4-BE49-F238E27FC236}">
                  <a16:creationId xmlns:a16="http://schemas.microsoft.com/office/drawing/2014/main" id="{CD84793A-EB3D-401B-994B-8A0D1C78E903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C20EAE57-CCE0-48B3-9EAE-B07B33AFD49B}"/>
              </a:ext>
            </a:extLst>
          </p:cNvPr>
          <p:cNvGrpSpPr/>
          <p:nvPr/>
        </p:nvGrpSpPr>
        <p:grpSpPr>
          <a:xfrm>
            <a:off x="4067944" y="5229200"/>
            <a:ext cx="360040" cy="504056"/>
            <a:chOff x="6012160" y="533182"/>
            <a:chExt cx="2160240" cy="3255858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24" name="四角形: 1 つの角を切り取る 23">
              <a:extLst>
                <a:ext uri="{FF2B5EF4-FFF2-40B4-BE49-F238E27FC236}">
                  <a16:creationId xmlns:a16="http://schemas.microsoft.com/office/drawing/2014/main" id="{F9E92CEC-2455-4220-88A0-B54A02A86C92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25" name="二等辺三角形 24">
              <a:extLst>
                <a:ext uri="{FF2B5EF4-FFF2-40B4-BE49-F238E27FC236}">
                  <a16:creationId xmlns:a16="http://schemas.microsoft.com/office/drawing/2014/main" id="{13768C68-89A0-467A-8603-3F354E89FE89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FE0F59C5-07A0-457E-B40D-D424417EF6E9}"/>
              </a:ext>
            </a:extLst>
          </p:cNvPr>
          <p:cNvGrpSpPr/>
          <p:nvPr/>
        </p:nvGrpSpPr>
        <p:grpSpPr>
          <a:xfrm>
            <a:off x="6588224" y="5229200"/>
            <a:ext cx="360040" cy="504056"/>
            <a:chOff x="6012160" y="533182"/>
            <a:chExt cx="2160240" cy="3255858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27" name="四角形: 1 つの角を切り取る 26">
              <a:extLst>
                <a:ext uri="{FF2B5EF4-FFF2-40B4-BE49-F238E27FC236}">
                  <a16:creationId xmlns:a16="http://schemas.microsoft.com/office/drawing/2014/main" id="{AA4B7046-3A74-4222-9237-06BE7ED28FBF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28" name="二等辺三角形 27">
              <a:extLst>
                <a:ext uri="{FF2B5EF4-FFF2-40B4-BE49-F238E27FC236}">
                  <a16:creationId xmlns:a16="http://schemas.microsoft.com/office/drawing/2014/main" id="{D662A52A-DFEA-4311-9E8F-EA0ACCC0D238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9" name="矢印: 右 28">
            <a:extLst>
              <a:ext uri="{FF2B5EF4-FFF2-40B4-BE49-F238E27FC236}">
                <a16:creationId xmlns:a16="http://schemas.microsoft.com/office/drawing/2014/main" id="{CF56FFFA-9521-44A6-91FF-6082CDF5E443}"/>
              </a:ext>
            </a:extLst>
          </p:cNvPr>
          <p:cNvSpPr/>
          <p:nvPr/>
        </p:nvSpPr>
        <p:spPr>
          <a:xfrm>
            <a:off x="2051720" y="5301208"/>
            <a:ext cx="1728192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矢印: 右 29">
            <a:extLst>
              <a:ext uri="{FF2B5EF4-FFF2-40B4-BE49-F238E27FC236}">
                <a16:creationId xmlns:a16="http://schemas.microsoft.com/office/drawing/2014/main" id="{CF085D8C-FB07-423B-8523-690F55A819BB}"/>
              </a:ext>
            </a:extLst>
          </p:cNvPr>
          <p:cNvSpPr/>
          <p:nvPr/>
        </p:nvSpPr>
        <p:spPr>
          <a:xfrm>
            <a:off x="4644008" y="5301208"/>
            <a:ext cx="1728192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3FDEF32-D812-47B4-9211-9BF2FA41100A}"/>
              </a:ext>
            </a:extLst>
          </p:cNvPr>
          <p:cNvSpPr txBox="1"/>
          <p:nvPr/>
        </p:nvSpPr>
        <p:spPr>
          <a:xfrm>
            <a:off x="1187624" y="2492896"/>
            <a:ext cx="61093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/>
              <a:t>commit -a </a:t>
            </a:r>
            <a:r>
              <a:rPr lang="ja-JP" altLang="en-US" dirty="0"/>
              <a:t>オプションにより、修正のあるファイル全てを</a:t>
            </a:r>
            <a:endParaRPr lang="en-US" altLang="ja-JP" dirty="0"/>
          </a:p>
          <a:p>
            <a:r>
              <a:rPr lang="ja-JP" altLang="en-US" dirty="0"/>
              <a:t>自動でステージングしてから</a:t>
            </a:r>
            <a:r>
              <a:rPr lang="ja-JP" altLang="en-US"/>
              <a:t>コミットする</a:t>
            </a:r>
            <a:endParaRPr lang="en-US" altLang="ja-JP"/>
          </a:p>
          <a:p>
            <a:r>
              <a:rPr kumimoji="1" lang="en-US" altLang="ja-JP"/>
              <a:t>(</a:t>
            </a:r>
            <a:r>
              <a:rPr kumimoji="1" lang="ja-JP" altLang="en-US"/>
              <a:t>ステージングを飛ばしているわけではない</a:t>
            </a:r>
            <a:r>
              <a:rPr kumimoji="1" lang="en-US" altLang="ja-JP"/>
              <a:t>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020128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EB973C5-4C11-4FD1-BA90-C27165F9AD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 – Step 6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A0617B0-D8AD-4BAB-BED8-C323744646F7}"/>
              </a:ext>
            </a:extLst>
          </p:cNvPr>
          <p:cNvSpPr txBox="1"/>
          <p:nvPr/>
        </p:nvSpPr>
        <p:spPr>
          <a:xfrm>
            <a:off x="251520" y="126876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歴史の確認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B48E940-AA36-49C9-97B9-1E9D09A19BFD}"/>
              </a:ext>
            </a:extLst>
          </p:cNvPr>
          <p:cNvSpPr txBox="1"/>
          <p:nvPr/>
        </p:nvSpPr>
        <p:spPr>
          <a:xfrm>
            <a:off x="827584" y="1988840"/>
            <a:ext cx="2582758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log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git log --</a:t>
            </a:r>
            <a:r>
              <a:rPr lang="en-US" altLang="ja-JP" sz="2000" dirty="0" err="1">
                <a:latin typeface="Consolas" panose="020B0609020204030204" pitchFamily="49" charset="0"/>
              </a:rPr>
              <a:t>oneline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0AFF55BA-80AB-4F7A-B8F2-B5C3CE0B4E34}"/>
              </a:ext>
            </a:extLst>
          </p:cNvPr>
          <p:cNvSpPr/>
          <p:nvPr/>
        </p:nvSpPr>
        <p:spPr>
          <a:xfrm>
            <a:off x="1835696" y="6237312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2F4D2808-7674-4F11-B5CA-227BC656C0BF}"/>
              </a:ext>
            </a:extLst>
          </p:cNvPr>
          <p:cNvSpPr/>
          <p:nvPr/>
        </p:nvSpPr>
        <p:spPr>
          <a:xfrm>
            <a:off x="1835696" y="530120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2C299BC0-1B80-40DC-AE3F-CBAB1EADCA95}"/>
              </a:ext>
            </a:extLst>
          </p:cNvPr>
          <p:cNvSpPr/>
          <p:nvPr/>
        </p:nvSpPr>
        <p:spPr>
          <a:xfrm>
            <a:off x="1835696" y="4365104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1 つの角を切り取り 1 つの角を丸める 8">
            <a:extLst>
              <a:ext uri="{FF2B5EF4-FFF2-40B4-BE49-F238E27FC236}">
                <a16:creationId xmlns:a16="http://schemas.microsoft.com/office/drawing/2014/main" id="{B4C177FD-52A6-498C-B32F-5D2B082E7C95}"/>
              </a:ext>
            </a:extLst>
          </p:cNvPr>
          <p:cNvSpPr/>
          <p:nvPr/>
        </p:nvSpPr>
        <p:spPr>
          <a:xfrm>
            <a:off x="323528" y="3933056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550D71E-3A29-4E2C-918B-360B94EDEB3D}"/>
              </a:ext>
            </a:extLst>
          </p:cNvPr>
          <p:cNvSpPr/>
          <p:nvPr/>
        </p:nvSpPr>
        <p:spPr>
          <a:xfrm>
            <a:off x="428799" y="3179713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A13E1093-6A80-4A35-BEFE-6FA9147EDA8A}"/>
              </a:ext>
            </a:extLst>
          </p:cNvPr>
          <p:cNvCxnSpPr>
            <a:cxnSpLocks/>
            <a:stCxn id="10" idx="2"/>
            <a:endCxn id="9" idx="3"/>
          </p:cNvCxnSpPr>
          <p:nvPr/>
        </p:nvCxnSpPr>
        <p:spPr>
          <a:xfrm>
            <a:off x="896851" y="3539753"/>
            <a:ext cx="2741" cy="3933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229BE455-AF3F-4E29-8957-9B1F0C6E0B93}"/>
              </a:ext>
            </a:extLst>
          </p:cNvPr>
          <p:cNvCxnSpPr>
            <a:cxnSpLocks/>
            <a:stCxn id="9" idx="0"/>
            <a:endCxn id="7" idx="2"/>
          </p:cNvCxnSpPr>
          <p:nvPr/>
        </p:nvCxnSpPr>
        <p:spPr>
          <a:xfrm>
            <a:off x="1475656" y="4102224"/>
            <a:ext cx="360040" cy="47890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E33C98AD-A0BC-4851-9217-40A29862DCAB}"/>
              </a:ext>
            </a:extLst>
          </p:cNvPr>
          <p:cNvCxnSpPr>
            <a:cxnSpLocks/>
            <a:stCxn id="7" idx="4"/>
            <a:endCxn id="6" idx="0"/>
          </p:cNvCxnSpPr>
          <p:nvPr/>
        </p:nvCxnSpPr>
        <p:spPr>
          <a:xfrm>
            <a:off x="2051720" y="4797152"/>
            <a:ext cx="0" cy="504056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41E0B1B1-9FC7-44B6-8537-F7F9B5554BE9}"/>
              </a:ext>
            </a:extLst>
          </p:cNvPr>
          <p:cNvCxnSpPr>
            <a:cxnSpLocks/>
            <a:stCxn id="6" idx="4"/>
            <a:endCxn id="5" idx="0"/>
          </p:cNvCxnSpPr>
          <p:nvPr/>
        </p:nvCxnSpPr>
        <p:spPr>
          <a:xfrm>
            <a:off x="2051720" y="5733256"/>
            <a:ext cx="0" cy="504056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52AD527-ADFA-41AC-9851-C621FA8E841A}"/>
              </a:ext>
            </a:extLst>
          </p:cNvPr>
          <p:cNvSpPr txBox="1"/>
          <p:nvPr/>
        </p:nvSpPr>
        <p:spPr>
          <a:xfrm>
            <a:off x="2411760" y="6300028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initial commit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EE8C00E-0CB4-4CC0-B844-99D9682DDFA6}"/>
              </a:ext>
            </a:extLst>
          </p:cNvPr>
          <p:cNvSpPr txBox="1"/>
          <p:nvPr/>
        </p:nvSpPr>
        <p:spPr>
          <a:xfrm>
            <a:off x="2411760" y="5301208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adds new line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D2B444C-D5CF-4135-AF11-FE6D669E29D3}"/>
              </a:ext>
            </a:extLst>
          </p:cNvPr>
          <p:cNvSpPr txBox="1"/>
          <p:nvPr/>
        </p:nvSpPr>
        <p:spPr>
          <a:xfrm>
            <a:off x="2411760" y="4365104"/>
            <a:ext cx="248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modifies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B1E8D174-02ED-467D-889F-8760F8A8A081}"/>
              </a:ext>
            </a:extLst>
          </p:cNvPr>
          <p:cNvSpPr txBox="1"/>
          <p:nvPr/>
        </p:nvSpPr>
        <p:spPr>
          <a:xfrm>
            <a:off x="4499992" y="3212976"/>
            <a:ext cx="4108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ターミナルに表示</a:t>
            </a:r>
            <a:r>
              <a:rPr lang="ja-JP" altLang="en-US"/>
              <a:t>された情報から</a:t>
            </a:r>
            <a:endParaRPr lang="en-US" altLang="ja-JP" dirty="0"/>
          </a:p>
          <a:p>
            <a:r>
              <a:rPr lang="ja-JP" altLang="en-US" dirty="0"/>
              <a:t>「玉と</a:t>
            </a:r>
            <a:r>
              <a:rPr lang="ja-JP" altLang="en-US"/>
              <a:t>線」を頭の中に再構成すること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673251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>
            <a:extLst>
              <a:ext uri="{FF2B5EF4-FFF2-40B4-BE49-F238E27FC236}">
                <a16:creationId xmlns:a16="http://schemas.microsoft.com/office/drawing/2014/main" id="{27870985-42A7-4DF0-209C-AF1822392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034" y="2320417"/>
            <a:ext cx="6796853" cy="3096344"/>
          </a:xfrm>
          <a:prstGeom prst="rect">
            <a:avLst/>
          </a:prstGeom>
        </p:spPr>
      </p:pic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C30E22C-A2A7-4370-829C-22F46D8951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 – Step 7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10C281F-98BB-443D-B24D-E449CE680E43}"/>
              </a:ext>
            </a:extLst>
          </p:cNvPr>
          <p:cNvSpPr txBox="1"/>
          <p:nvPr/>
        </p:nvSpPr>
        <p:spPr>
          <a:xfrm>
            <a:off x="323528" y="1052736"/>
            <a:ext cx="34868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VSCode</a:t>
            </a:r>
            <a:r>
              <a:rPr kumimoji="1" lang="ja-JP" altLang="en-US" sz="2400" dirty="0"/>
              <a:t>からのコミット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A2B8537-78C8-4EDD-A65A-DF5C4C94E6FF}"/>
              </a:ext>
            </a:extLst>
          </p:cNvPr>
          <p:cNvSpPr txBox="1"/>
          <p:nvPr/>
        </p:nvSpPr>
        <p:spPr>
          <a:xfrm>
            <a:off x="5652120" y="1772816"/>
            <a:ext cx="258275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add </a:t>
            </a:r>
            <a:r>
              <a:rPr lang="en-US" altLang="ja-JP" sz="2000" dirty="0">
                <a:latin typeface="Consolas" panose="020B0609020204030204" pitchFamily="49" charset="0"/>
              </a:rPr>
              <a:t>README.md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BA0082B7-05C8-45E2-9540-D12CE21B7113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4535996" y="1844824"/>
            <a:ext cx="0" cy="2448272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29FA1BF-B994-435C-8533-8A68F03ADECC}"/>
              </a:ext>
            </a:extLst>
          </p:cNvPr>
          <p:cNvSpPr txBox="1"/>
          <p:nvPr/>
        </p:nvSpPr>
        <p:spPr>
          <a:xfrm>
            <a:off x="4139952" y="1268760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この「＋」ボタンが</a:t>
            </a:r>
            <a:r>
              <a:rPr lang="en-US" altLang="ja-JP" dirty="0"/>
              <a:t>git add</a:t>
            </a:r>
            <a:r>
              <a:rPr lang="ja-JP" altLang="en-US" dirty="0"/>
              <a:t>に対応</a:t>
            </a:r>
            <a:endParaRPr kumimoji="1" lang="ja-JP" altLang="en-US" dirty="0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B9A708F3-EBE5-A882-0F33-2492CFDB594A}"/>
              </a:ext>
            </a:extLst>
          </p:cNvPr>
          <p:cNvSpPr/>
          <p:nvPr/>
        </p:nvSpPr>
        <p:spPr>
          <a:xfrm>
            <a:off x="1115616" y="3933056"/>
            <a:ext cx="504056" cy="50405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AD51F22-B7DD-9E5A-2D4F-1B5562FDA9F8}"/>
              </a:ext>
            </a:extLst>
          </p:cNvPr>
          <p:cNvSpPr/>
          <p:nvPr/>
        </p:nvSpPr>
        <p:spPr>
          <a:xfrm>
            <a:off x="539552" y="4005064"/>
            <a:ext cx="410344" cy="410344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1</a:t>
            </a:r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7CC1C136-10E7-EA0E-34E1-55FD7AF01F77}"/>
              </a:ext>
            </a:extLst>
          </p:cNvPr>
          <p:cNvSpPr/>
          <p:nvPr/>
        </p:nvSpPr>
        <p:spPr>
          <a:xfrm>
            <a:off x="4323090" y="4725144"/>
            <a:ext cx="410344" cy="410344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2</a:t>
            </a:r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F3374576-0E59-D4D3-D9BB-49AACCEA5846}"/>
              </a:ext>
            </a:extLst>
          </p:cNvPr>
          <p:cNvSpPr/>
          <p:nvPr/>
        </p:nvSpPr>
        <p:spPr>
          <a:xfrm>
            <a:off x="4355976" y="4293096"/>
            <a:ext cx="360040" cy="36004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02059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FAFB0F8-C384-2D28-B2B5-529F0B79E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140968"/>
            <a:ext cx="6192688" cy="3000465"/>
          </a:xfrm>
          <a:prstGeom prst="rect">
            <a:avLst/>
          </a:prstGeom>
        </p:spPr>
      </p:pic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EB72191-4B11-48D1-BE33-16F6082ABD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 – Step 7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F17C930-7437-4B68-AE36-A83E01516560}"/>
              </a:ext>
            </a:extLst>
          </p:cNvPr>
          <p:cNvSpPr txBox="1"/>
          <p:nvPr/>
        </p:nvSpPr>
        <p:spPr>
          <a:xfrm>
            <a:off x="1619672" y="1052736"/>
            <a:ext cx="512191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commit –m ”commit from VSCode”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2B35942-7F2A-4E09-9E15-23A7BC9C3A88}"/>
              </a:ext>
            </a:extLst>
          </p:cNvPr>
          <p:cNvCxnSpPr/>
          <p:nvPr/>
        </p:nvCxnSpPr>
        <p:spPr>
          <a:xfrm>
            <a:off x="2267744" y="1412776"/>
            <a:ext cx="792088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楕円 10">
            <a:extLst>
              <a:ext uri="{FF2B5EF4-FFF2-40B4-BE49-F238E27FC236}">
                <a16:creationId xmlns:a16="http://schemas.microsoft.com/office/drawing/2014/main" id="{C0074D95-338E-4E13-AC9A-16A46E53DFD2}"/>
              </a:ext>
            </a:extLst>
          </p:cNvPr>
          <p:cNvSpPr/>
          <p:nvPr/>
        </p:nvSpPr>
        <p:spPr>
          <a:xfrm>
            <a:off x="2555776" y="1412776"/>
            <a:ext cx="144016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C692B87E-0BF3-463F-A878-422CE6C5CCE4}"/>
              </a:ext>
            </a:extLst>
          </p:cNvPr>
          <p:cNvCxnSpPr>
            <a:cxnSpLocks/>
            <a:stCxn id="11" idx="4"/>
            <a:endCxn id="9" idx="1"/>
          </p:cNvCxnSpPr>
          <p:nvPr/>
        </p:nvCxnSpPr>
        <p:spPr>
          <a:xfrm rot="5400000">
            <a:off x="665566" y="2510898"/>
            <a:ext cx="2916324" cy="1008112"/>
          </a:xfrm>
          <a:prstGeom prst="bentConnector4">
            <a:avLst>
              <a:gd name="adj1" fmla="val 46914"/>
              <a:gd name="adj2" fmla="val 202150"/>
            </a:avLst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7883801-8004-47AF-BF8E-2DB2D4F607CD}"/>
              </a:ext>
            </a:extLst>
          </p:cNvPr>
          <p:cNvCxnSpPr>
            <a:cxnSpLocks/>
          </p:cNvCxnSpPr>
          <p:nvPr/>
        </p:nvCxnSpPr>
        <p:spPr>
          <a:xfrm>
            <a:off x="3779912" y="1412776"/>
            <a:ext cx="2520280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楕円 16">
            <a:extLst>
              <a:ext uri="{FF2B5EF4-FFF2-40B4-BE49-F238E27FC236}">
                <a16:creationId xmlns:a16="http://schemas.microsoft.com/office/drawing/2014/main" id="{D4734209-BECC-4F11-B3CB-A1A79790BB12}"/>
              </a:ext>
            </a:extLst>
          </p:cNvPr>
          <p:cNvSpPr/>
          <p:nvPr/>
        </p:nvSpPr>
        <p:spPr>
          <a:xfrm>
            <a:off x="4860032" y="1340768"/>
            <a:ext cx="144016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コネクタ: カギ線 18">
            <a:extLst>
              <a:ext uri="{FF2B5EF4-FFF2-40B4-BE49-F238E27FC236}">
                <a16:creationId xmlns:a16="http://schemas.microsoft.com/office/drawing/2014/main" id="{F842E328-2189-4428-8B44-62FFC282FAD6}"/>
              </a:ext>
            </a:extLst>
          </p:cNvPr>
          <p:cNvCxnSpPr>
            <a:cxnSpLocks/>
            <a:stCxn id="17" idx="4"/>
            <a:endCxn id="23" idx="3"/>
          </p:cNvCxnSpPr>
          <p:nvPr/>
        </p:nvCxnSpPr>
        <p:spPr>
          <a:xfrm rot="5400000">
            <a:off x="3365866" y="2474894"/>
            <a:ext cx="2556284" cy="576064"/>
          </a:xfrm>
          <a:prstGeom prst="bentConnector2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39093AD-211A-466B-9C08-59D779AE6B93}"/>
              </a:ext>
            </a:extLst>
          </p:cNvPr>
          <p:cNvSpPr txBox="1"/>
          <p:nvPr/>
        </p:nvSpPr>
        <p:spPr>
          <a:xfrm>
            <a:off x="611560" y="177281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コミットボタン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2EE1EDD-1516-4FB7-A421-E347B6FE2C1F}"/>
              </a:ext>
            </a:extLst>
          </p:cNvPr>
          <p:cNvSpPr txBox="1"/>
          <p:nvPr/>
        </p:nvSpPr>
        <p:spPr>
          <a:xfrm>
            <a:off x="5220072" y="1556792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ここにコミットメッセージが</a:t>
            </a:r>
            <a:endParaRPr lang="en-US" altLang="ja-JP"/>
          </a:p>
          <a:p>
            <a:r>
              <a:rPr kumimoji="1" lang="ja-JP" altLang="en-US"/>
              <a:t>書ける</a:t>
            </a:r>
            <a:endParaRPr kumimoji="1" lang="ja-JP" altLang="en-US" dirty="0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CC3B0879-540D-DB9A-A9B0-5F9DAFDE78CF}"/>
              </a:ext>
            </a:extLst>
          </p:cNvPr>
          <p:cNvSpPr/>
          <p:nvPr/>
        </p:nvSpPr>
        <p:spPr>
          <a:xfrm>
            <a:off x="1619672" y="4293096"/>
            <a:ext cx="2736304" cy="3600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5096B7C8-4046-8B2B-4ACC-7F4476B20CF2}"/>
              </a:ext>
            </a:extLst>
          </p:cNvPr>
          <p:cNvSpPr/>
          <p:nvPr/>
        </p:nvSpPr>
        <p:spPr>
          <a:xfrm>
            <a:off x="1619672" y="3861048"/>
            <a:ext cx="2736304" cy="3600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19431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48BEDBB-AD2B-EE30-BFC6-84CA3C3192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課題</a:t>
            </a:r>
            <a:r>
              <a:rPr kumimoji="1" lang="en-US" altLang="ja-JP"/>
              <a:t> – Step 7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A2B84D0-00D3-7EA6-D4FC-E097F268D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90" y="1691516"/>
            <a:ext cx="8983957" cy="2592288"/>
          </a:xfrm>
          <a:prstGeom prst="rect">
            <a:avLst/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89B326CD-83BE-672D-3095-E5EA20D125CA}"/>
              </a:ext>
            </a:extLst>
          </p:cNvPr>
          <p:cNvSpPr/>
          <p:nvPr/>
        </p:nvSpPr>
        <p:spPr>
          <a:xfrm>
            <a:off x="683568" y="2339588"/>
            <a:ext cx="2520280" cy="2880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783D12A-C439-AAED-AE2E-68B3DFA56A0F}"/>
              </a:ext>
            </a:extLst>
          </p:cNvPr>
          <p:cNvSpPr txBox="1"/>
          <p:nvPr/>
        </p:nvSpPr>
        <p:spPr>
          <a:xfrm>
            <a:off x="395537" y="908720"/>
            <a:ext cx="8568952" cy="720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/>
              <a:t>もしコミットメッセージを書き忘れてコミットボタンを押したら</a:t>
            </a:r>
            <a:r>
              <a:rPr lang="en-US" altLang="ja-JP" sz="2000"/>
              <a:t>COMMIT_EDITMSG</a:t>
            </a:r>
            <a:r>
              <a:rPr lang="ja-JP" altLang="en-US" sz="2000"/>
              <a:t>というファイルが開く</a:t>
            </a:r>
            <a:endParaRPr kumimoji="1" lang="ja-JP" altLang="en-US" sz="2000"/>
          </a:p>
        </p:txBody>
      </p:sp>
      <p:cxnSp>
        <p:nvCxnSpPr>
          <p:cNvPr id="7" name="コネクタ: カギ線 6">
            <a:extLst>
              <a:ext uri="{FF2B5EF4-FFF2-40B4-BE49-F238E27FC236}">
                <a16:creationId xmlns:a16="http://schemas.microsoft.com/office/drawing/2014/main" id="{2CF37F3F-416D-35CF-D3FF-DD9CB6C8FDD9}"/>
              </a:ext>
            </a:extLst>
          </p:cNvPr>
          <p:cNvCxnSpPr>
            <a:cxnSpLocks/>
            <a:stCxn id="6" idx="1"/>
            <a:endCxn id="5" idx="1"/>
          </p:cNvCxnSpPr>
          <p:nvPr/>
        </p:nvCxnSpPr>
        <p:spPr>
          <a:xfrm rot="10800000" flipH="1" flipV="1">
            <a:off x="395536" y="1268760"/>
            <a:ext cx="288031" cy="1214844"/>
          </a:xfrm>
          <a:prstGeom prst="bentConnector3">
            <a:avLst>
              <a:gd name="adj1" fmla="val -79366"/>
            </a:avLst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80C04910-F5B2-5351-2968-08B093B9B164}"/>
              </a:ext>
            </a:extLst>
          </p:cNvPr>
          <p:cNvSpPr/>
          <p:nvPr/>
        </p:nvSpPr>
        <p:spPr>
          <a:xfrm>
            <a:off x="3716613" y="2420305"/>
            <a:ext cx="1656184" cy="2880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64DFA7A-F4FA-D953-5CBA-0F82D80CBC1A}"/>
              </a:ext>
            </a:extLst>
          </p:cNvPr>
          <p:cNvSpPr txBox="1"/>
          <p:nvPr/>
        </p:nvSpPr>
        <p:spPr>
          <a:xfrm>
            <a:off x="107504" y="4355812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一番上に</a:t>
            </a:r>
            <a:r>
              <a:rPr kumimoji="1" lang="ja-JP" altLang="en-US" dirty="0"/>
              <a:t>「</a:t>
            </a:r>
            <a:r>
              <a:rPr kumimoji="1" lang="en-US" altLang="ja-JP" dirty="0"/>
              <a:t>commit from VSCode</a:t>
            </a:r>
            <a:r>
              <a:rPr kumimoji="1" lang="ja-JP" altLang="en-US" dirty="0"/>
              <a:t>」と入力</a:t>
            </a:r>
            <a:r>
              <a:rPr lang="ja-JP" altLang="en-US" dirty="0"/>
              <a:t>する</a:t>
            </a:r>
            <a:endParaRPr lang="en-US" altLang="ja-JP" dirty="0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FFB9437C-9E80-D219-17E8-EE51C1F90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5445224"/>
            <a:ext cx="3859068" cy="1152128"/>
          </a:xfrm>
          <a:prstGeom prst="rect">
            <a:avLst/>
          </a:prstGeom>
        </p:spPr>
      </p:pic>
      <p:sp>
        <p:nvSpPr>
          <p:cNvPr id="17" name="楕円 16">
            <a:extLst>
              <a:ext uri="{FF2B5EF4-FFF2-40B4-BE49-F238E27FC236}">
                <a16:creationId xmlns:a16="http://schemas.microsoft.com/office/drawing/2014/main" id="{DE1FFED8-E4F7-5DDA-379F-999D2BA2B829}"/>
              </a:ext>
            </a:extLst>
          </p:cNvPr>
          <p:cNvSpPr/>
          <p:nvPr/>
        </p:nvSpPr>
        <p:spPr>
          <a:xfrm>
            <a:off x="3707904" y="5696084"/>
            <a:ext cx="360040" cy="36004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FFCDCAAA-9C27-3FD4-FABC-B609D84EFD44}"/>
              </a:ext>
            </a:extLst>
          </p:cNvPr>
          <p:cNvCxnSpPr>
            <a:cxnSpLocks/>
            <a:stCxn id="12" idx="3"/>
            <a:endCxn id="11" idx="3"/>
          </p:cNvCxnSpPr>
          <p:nvPr/>
        </p:nvCxnSpPr>
        <p:spPr>
          <a:xfrm flipV="1">
            <a:off x="5220072" y="2564321"/>
            <a:ext cx="152725" cy="1976157"/>
          </a:xfrm>
          <a:prstGeom prst="bentConnector3">
            <a:avLst>
              <a:gd name="adj1" fmla="val 249681"/>
            </a:avLst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532FE00-11BA-4DE1-B02D-B2A8C4C748AC}"/>
              </a:ext>
            </a:extLst>
          </p:cNvPr>
          <p:cNvSpPr txBox="1"/>
          <p:nvPr/>
        </p:nvSpPr>
        <p:spPr>
          <a:xfrm>
            <a:off x="107504" y="4869160"/>
            <a:ext cx="3456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/>
              <a:t>保存してからファイルを閉じる</a:t>
            </a: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CCCE467F-3186-1CFE-CCDF-56557884D058}"/>
              </a:ext>
            </a:extLst>
          </p:cNvPr>
          <p:cNvSpPr/>
          <p:nvPr/>
        </p:nvSpPr>
        <p:spPr>
          <a:xfrm>
            <a:off x="4716016" y="1988840"/>
            <a:ext cx="1656184" cy="2880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コネクタ: カギ線 28">
            <a:extLst>
              <a:ext uri="{FF2B5EF4-FFF2-40B4-BE49-F238E27FC236}">
                <a16:creationId xmlns:a16="http://schemas.microsoft.com/office/drawing/2014/main" id="{9301D705-1B06-3AEE-0823-BE5E6C92C5BF}"/>
              </a:ext>
            </a:extLst>
          </p:cNvPr>
          <p:cNvCxnSpPr>
            <a:cxnSpLocks/>
            <a:stCxn id="22" idx="3"/>
            <a:endCxn id="17" idx="6"/>
          </p:cNvCxnSpPr>
          <p:nvPr/>
        </p:nvCxnSpPr>
        <p:spPr>
          <a:xfrm>
            <a:off x="3563888" y="5053826"/>
            <a:ext cx="504056" cy="822278"/>
          </a:xfrm>
          <a:prstGeom prst="bentConnector3">
            <a:avLst>
              <a:gd name="adj1" fmla="val 145352"/>
            </a:avLst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6030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35B7E9F-B529-4398-A4D3-B0427B25DF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 – </a:t>
            </a:r>
            <a:r>
              <a:rPr kumimoji="1" lang="ja-JP" altLang="en-US" dirty="0"/>
              <a:t>レポート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7C5D9373-8361-49BE-B5B2-51BCEC07D208}"/>
              </a:ext>
            </a:extLst>
          </p:cNvPr>
          <p:cNvSpPr/>
          <p:nvPr/>
        </p:nvSpPr>
        <p:spPr>
          <a:xfrm>
            <a:off x="3315970" y="6054551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0B6071F1-4AB0-42DE-BCA7-50FAD2853EF5}"/>
              </a:ext>
            </a:extLst>
          </p:cNvPr>
          <p:cNvSpPr/>
          <p:nvPr/>
        </p:nvSpPr>
        <p:spPr>
          <a:xfrm>
            <a:off x="3315970" y="5118447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2585A58C-04FE-4C3D-8552-5F36B5E21491}"/>
              </a:ext>
            </a:extLst>
          </p:cNvPr>
          <p:cNvSpPr/>
          <p:nvPr/>
        </p:nvSpPr>
        <p:spPr>
          <a:xfrm>
            <a:off x="3315970" y="4182343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1 つの角を切り取り 1 つの角を丸める 5">
            <a:extLst>
              <a:ext uri="{FF2B5EF4-FFF2-40B4-BE49-F238E27FC236}">
                <a16:creationId xmlns:a16="http://schemas.microsoft.com/office/drawing/2014/main" id="{966F24A4-1A27-408D-9382-95E725968327}"/>
              </a:ext>
            </a:extLst>
          </p:cNvPr>
          <p:cNvSpPr/>
          <p:nvPr/>
        </p:nvSpPr>
        <p:spPr>
          <a:xfrm>
            <a:off x="1659786" y="3750295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56FCCDE-C3F7-4B43-B6A2-BD892DEB3359}"/>
              </a:ext>
            </a:extLst>
          </p:cNvPr>
          <p:cNvSpPr/>
          <p:nvPr/>
        </p:nvSpPr>
        <p:spPr>
          <a:xfrm>
            <a:off x="1765057" y="2996952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CEFD1306-00ED-49C9-B069-4ABE989164E7}"/>
              </a:ext>
            </a:extLst>
          </p:cNvPr>
          <p:cNvCxnSpPr>
            <a:cxnSpLocks/>
            <a:stCxn id="7" idx="2"/>
            <a:endCxn id="6" idx="3"/>
          </p:cNvCxnSpPr>
          <p:nvPr/>
        </p:nvCxnSpPr>
        <p:spPr>
          <a:xfrm>
            <a:off x="2233109" y="3356992"/>
            <a:ext cx="2741" cy="3933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コネクタ: カギ線 8">
            <a:extLst>
              <a:ext uri="{FF2B5EF4-FFF2-40B4-BE49-F238E27FC236}">
                <a16:creationId xmlns:a16="http://schemas.microsoft.com/office/drawing/2014/main" id="{402C98D8-D430-4B4B-AE8C-95057C7CC92B}"/>
              </a:ext>
            </a:extLst>
          </p:cNvPr>
          <p:cNvCxnSpPr>
            <a:cxnSpLocks/>
            <a:stCxn id="6" idx="0"/>
            <a:endCxn id="15" idx="2"/>
          </p:cNvCxnSpPr>
          <p:nvPr/>
        </p:nvCxnSpPr>
        <p:spPr>
          <a:xfrm flipV="1">
            <a:off x="2811914" y="3462263"/>
            <a:ext cx="504056" cy="45720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EF861F8-708D-4F1A-AE53-F4D86C0AD4FE}"/>
              </a:ext>
            </a:extLst>
          </p:cNvPr>
          <p:cNvCxnSpPr>
            <a:cxnSpLocks/>
            <a:stCxn id="5" idx="4"/>
            <a:endCxn id="4" idx="0"/>
          </p:cNvCxnSpPr>
          <p:nvPr/>
        </p:nvCxnSpPr>
        <p:spPr>
          <a:xfrm>
            <a:off x="3531994" y="4614391"/>
            <a:ext cx="0" cy="504056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1F2CD341-3CE8-41E4-B21C-D009863D3C46}"/>
              </a:ext>
            </a:extLst>
          </p:cNvPr>
          <p:cNvCxnSpPr>
            <a:cxnSpLocks/>
            <a:stCxn id="4" idx="4"/>
            <a:endCxn id="3" idx="0"/>
          </p:cNvCxnSpPr>
          <p:nvPr/>
        </p:nvCxnSpPr>
        <p:spPr>
          <a:xfrm>
            <a:off x="3531994" y="5550495"/>
            <a:ext cx="0" cy="504056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827E885-CE4F-4800-BF43-A2358527A549}"/>
              </a:ext>
            </a:extLst>
          </p:cNvPr>
          <p:cNvSpPr txBox="1"/>
          <p:nvPr/>
        </p:nvSpPr>
        <p:spPr>
          <a:xfrm>
            <a:off x="3892034" y="6117267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initial commit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45906A9-61B4-42CF-BE50-00564406758F}"/>
              </a:ext>
            </a:extLst>
          </p:cNvPr>
          <p:cNvSpPr txBox="1"/>
          <p:nvPr/>
        </p:nvSpPr>
        <p:spPr>
          <a:xfrm>
            <a:off x="3892034" y="5118447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adds new line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4A683EF-6E32-4AD7-848E-7F94804279BB}"/>
              </a:ext>
            </a:extLst>
          </p:cNvPr>
          <p:cNvSpPr txBox="1"/>
          <p:nvPr/>
        </p:nvSpPr>
        <p:spPr>
          <a:xfrm>
            <a:off x="3892034" y="4182343"/>
            <a:ext cx="248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modifies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932F42AD-B989-4698-BBEC-281D5E1F2C84}"/>
              </a:ext>
            </a:extLst>
          </p:cNvPr>
          <p:cNvSpPr/>
          <p:nvPr/>
        </p:nvSpPr>
        <p:spPr>
          <a:xfrm>
            <a:off x="3315970" y="3246239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CE8228FC-9AFB-4B20-9964-428892A99A16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3531994" y="3678287"/>
            <a:ext cx="0" cy="504056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2957330-C11F-4ABA-98B4-140ACE8BC9EA}"/>
              </a:ext>
            </a:extLst>
          </p:cNvPr>
          <p:cNvSpPr txBox="1"/>
          <p:nvPr/>
        </p:nvSpPr>
        <p:spPr>
          <a:xfrm>
            <a:off x="3892034" y="3318247"/>
            <a:ext cx="2464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commit from VSCode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E8FBA90-E6A2-4750-8B98-CF5D29C4AF90}"/>
              </a:ext>
            </a:extLst>
          </p:cNvPr>
          <p:cNvSpPr txBox="1"/>
          <p:nvPr/>
        </p:nvSpPr>
        <p:spPr>
          <a:xfrm>
            <a:off x="251520" y="126876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歴史の確認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8A0CFF3-86E0-41AD-A2B1-1445A303A32F}"/>
              </a:ext>
            </a:extLst>
          </p:cNvPr>
          <p:cNvSpPr txBox="1"/>
          <p:nvPr/>
        </p:nvSpPr>
        <p:spPr>
          <a:xfrm>
            <a:off x="827584" y="1988840"/>
            <a:ext cx="258275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git log --</a:t>
            </a:r>
            <a:r>
              <a:rPr lang="en-US" altLang="ja-JP" sz="2000" dirty="0" err="1">
                <a:latin typeface="Consolas" panose="020B0609020204030204" pitchFamily="49" charset="0"/>
              </a:rPr>
              <a:t>oneline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728517"/>
      </p:ext>
    </p:extLst>
  </p:cSld>
  <p:clrMapOvr>
    <a:masterClrMapping/>
  </p:clrMapOvr>
</p:sld>
</file>

<file path=ppt/theme/theme1.xml><?xml version="1.0" encoding="utf-8"?>
<a:theme xmlns:a="http://schemas.openxmlformats.org/drawingml/2006/main" name="パーセル">
  <a:themeElements>
    <a:clrScheme name="ユーザー定義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日常使う用">
      <a:majorFont>
        <a:latin typeface="Arial"/>
        <a:ea typeface="HGｺﾞｼｯｸE"/>
        <a:cs typeface=""/>
      </a:majorFont>
      <a:minorFont>
        <a:latin typeface="Arial"/>
        <a:ea typeface="HGｺﾞｼｯｸE"/>
        <a:cs typeface=""/>
      </a:minorFont>
    </a:fontScheme>
    <a:fmtScheme name="パーセル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>
    <a:spDef>
      <a:spPr>
        <a:solidFill>
          <a:srgbClr val="FF0000"/>
        </a:solidFill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{11DA09EC-ABC8-2D40-8DBB-00E840906C4E}tf10001120</Template>
  <TotalTime>8694</TotalTime>
  <Words>1136</Words>
  <Application>Microsoft Office PowerPoint</Application>
  <PresentationFormat>画面に合わせる (4:3)</PresentationFormat>
  <Paragraphs>217</Paragraphs>
  <Slides>33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33</vt:i4>
      </vt:variant>
    </vt:vector>
  </HeadingPairs>
  <TitlesOfParts>
    <vt:vector size="39" baseType="lpstr">
      <vt:lpstr>HGｺﾞｼｯｸE</vt:lpstr>
      <vt:lpstr>游ゴシック</vt:lpstr>
      <vt:lpstr>Arial</vt:lpstr>
      <vt:lpstr>Consolas</vt:lpstr>
      <vt:lpstr>Wingdings</vt:lpstr>
      <vt:lpstr>パーセル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watanabe</dc:creator>
  <cp:lastModifiedBy>watanabe_hiroshi@keio.jp</cp:lastModifiedBy>
  <cp:revision>1651</cp:revision>
  <dcterms:created xsi:type="dcterms:W3CDTF">2019-01-02T05:23:01Z</dcterms:created>
  <dcterms:modified xsi:type="dcterms:W3CDTF">2026-10-19T06:35:34Z</dcterms:modified>
</cp:coreProperties>
</file>